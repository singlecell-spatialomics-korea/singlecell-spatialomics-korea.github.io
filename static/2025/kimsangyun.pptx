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9" r:id="rId2"/>
    <p:sldId id="277" r:id="rId3"/>
    <p:sldId id="270" r:id="rId4"/>
    <p:sldId id="271" r:id="rId5"/>
    <p:sldId id="272" r:id="rId6"/>
    <p:sldId id="273" r:id="rId7"/>
    <p:sldId id="276" r:id="rId8"/>
    <p:sldId id="274" r:id="rId9"/>
    <p:sldId id="279"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364" autoAdjust="0"/>
  </p:normalViewPr>
  <p:slideViewPr>
    <p:cSldViewPr snapToGrid="0">
      <p:cViewPr varScale="1">
        <p:scale>
          <a:sx n="93" d="100"/>
          <a:sy n="93" d="100"/>
        </p:scale>
        <p:origin x="127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6A1A8-CE33-49D4-B8BD-A82D5685ACED}" type="datetimeFigureOut">
              <a:rPr lang="ko-KR" altLang="en-US" smtClean="0"/>
              <a:t>2025-02-15</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AB6B45-8C4E-4C2B-8211-7E29841FDB87}" type="slidenum">
              <a:rPr lang="ko-KR" altLang="en-US" smtClean="0"/>
              <a:t>‹#›</a:t>
            </a:fld>
            <a:endParaRPr lang="ko-KR" altLang="en-US"/>
          </a:p>
        </p:txBody>
      </p:sp>
    </p:spTree>
    <p:extLst>
      <p:ext uri="{BB962C8B-B14F-4D97-AF65-F5344CB8AC3E}">
        <p14:creationId xmlns:p14="http://schemas.microsoft.com/office/powerpoint/2010/main" val="173366676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심부전은 예후가 좋지 않으며</a:t>
            </a:r>
            <a:r>
              <a:rPr lang="en-US" altLang="ko-KR"/>
              <a:t>, </a:t>
            </a:r>
            <a:r>
              <a:rPr lang="ko-KR" altLang="en-US"/>
              <a:t>진단 후 </a:t>
            </a:r>
            <a:r>
              <a:rPr lang="en-US" altLang="ko-KR"/>
              <a:t>5</a:t>
            </a:r>
            <a:r>
              <a:rPr lang="ko-KR" altLang="en-US"/>
              <a:t>년 이내 사망률이 </a:t>
            </a:r>
            <a:r>
              <a:rPr lang="en-US" altLang="ko-KR" b="1"/>
              <a:t>50%</a:t>
            </a:r>
            <a:r>
              <a:rPr lang="ko-KR" altLang="en-US" b="1"/>
              <a:t>에 달할 정도로 치명적인 질환</a:t>
            </a:r>
            <a:r>
              <a:rPr lang="ko-KR" altLang="en-US"/>
              <a:t>입니다</a:t>
            </a:r>
            <a:r>
              <a:rPr lang="en-US" altLang="ko-KR"/>
              <a:t>. </a:t>
            </a:r>
            <a:r>
              <a:rPr lang="ko-KR" altLang="en-US"/>
              <a:t>그러나 많은 환자들이 그 심각성을 인지하지 못하고</a:t>
            </a:r>
            <a:r>
              <a:rPr lang="en-US" altLang="ko-KR"/>
              <a:t>, </a:t>
            </a:r>
            <a:r>
              <a:rPr lang="ko-KR" altLang="en-US" b="1"/>
              <a:t>주요 증상을 단순한 노화 현상으로 오해하여 치료를 늦추는 경우가 많습니다</a:t>
            </a:r>
            <a:r>
              <a:rPr lang="en-US" altLang="ko-KR" b="1"/>
              <a:t>.</a:t>
            </a:r>
            <a:endParaRPr lang="ko-KR" altLang="en-US"/>
          </a:p>
          <a:p>
            <a:r>
              <a:rPr lang="ko-KR" altLang="en-US"/>
              <a:t>따라서 </a:t>
            </a:r>
            <a:r>
              <a:rPr lang="ko-KR" altLang="en-US" b="1"/>
              <a:t>조기 진단과 적절한 치료 관리가 무엇보다 중요하며</a:t>
            </a:r>
            <a:r>
              <a:rPr lang="en-US" altLang="ko-KR"/>
              <a:t>, </a:t>
            </a:r>
            <a:r>
              <a:rPr lang="ko-KR" altLang="en-US"/>
              <a:t>이를 통해 환자의 생존율과 삶의 질을 개선해야 합니다</a:t>
            </a:r>
            <a:r>
              <a:rPr lang="en-US" altLang="ko-KR"/>
              <a:t>.</a:t>
            </a:r>
          </a:p>
          <a:p>
            <a:endParaRPr lang="ko-KR" altLang="en-US"/>
          </a:p>
        </p:txBody>
      </p:sp>
      <p:sp>
        <p:nvSpPr>
          <p:cNvPr id="4" name="슬라이드 번호 개체 틀 3"/>
          <p:cNvSpPr>
            <a:spLocks noGrp="1"/>
          </p:cNvSpPr>
          <p:nvPr>
            <p:ph type="sldNum" sz="quarter" idx="5"/>
          </p:nvPr>
        </p:nvSpPr>
        <p:spPr/>
        <p:txBody>
          <a:bodyPr/>
          <a:lstStyle/>
          <a:p>
            <a:fld id="{85AB6B45-8C4E-4C2B-8211-7E29841FDB87}" type="slidenum">
              <a:rPr lang="ko-KR" altLang="en-US" smtClean="0"/>
              <a:t>4</a:t>
            </a:fld>
            <a:endParaRPr lang="ko-KR" altLang="en-US"/>
          </a:p>
        </p:txBody>
      </p:sp>
    </p:spTree>
    <p:extLst>
      <p:ext uri="{BB962C8B-B14F-4D97-AF65-F5344CB8AC3E}">
        <p14:creationId xmlns:p14="http://schemas.microsoft.com/office/powerpoint/2010/main" val="2092844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a:t>To-Do List</a:t>
            </a:r>
          </a:p>
          <a:p>
            <a:r>
              <a:rPr lang="en-US" altLang="ko-KR"/>
              <a:t>Endocardium vs Myocardium </a:t>
            </a:r>
            <a:r>
              <a:rPr lang="ko-KR" altLang="en-US"/>
              <a:t>비교 분석</a:t>
            </a:r>
          </a:p>
          <a:p>
            <a:r>
              <a:rPr lang="en-US" altLang="ko-KR"/>
              <a:t>Endocardium</a:t>
            </a:r>
            <a:r>
              <a:rPr lang="ko-KR" altLang="en-US"/>
              <a:t>와 가까운 </a:t>
            </a:r>
            <a:r>
              <a:rPr lang="en-US" altLang="ko-KR"/>
              <a:t>Myocardium vs </a:t>
            </a:r>
            <a:r>
              <a:rPr lang="ko-KR" altLang="en-US"/>
              <a:t>먼 </a:t>
            </a:r>
            <a:r>
              <a:rPr lang="en-US" altLang="ko-KR"/>
              <a:t>Myocardium</a:t>
            </a:r>
          </a:p>
          <a:p>
            <a:r>
              <a:rPr lang="en-US" altLang="ko-KR"/>
              <a:t>Left</a:t>
            </a:r>
            <a:r>
              <a:rPr lang="ko-KR" altLang="en-US"/>
              <a:t>와 </a:t>
            </a:r>
            <a:r>
              <a:rPr lang="en-US" altLang="ko-KR"/>
              <a:t>Right </a:t>
            </a:r>
            <a:r>
              <a:rPr lang="ko-KR" altLang="en-US"/>
              <a:t>심장의 차이 비교</a:t>
            </a:r>
          </a:p>
          <a:p>
            <a:r>
              <a:rPr lang="ko-KR" altLang="en-US"/>
              <a:t>남성군</a:t>
            </a:r>
            <a:r>
              <a:rPr lang="en-US" altLang="ko-KR"/>
              <a:t>: Left vs Right</a:t>
            </a:r>
          </a:p>
          <a:p>
            <a:r>
              <a:rPr lang="ko-KR" altLang="en-US"/>
              <a:t>여성군</a:t>
            </a:r>
            <a:r>
              <a:rPr lang="en-US" altLang="ko-KR"/>
              <a:t>: Left vs Right</a:t>
            </a:r>
          </a:p>
          <a:p>
            <a:r>
              <a:rPr lang="en-US" altLang="ko-KR"/>
              <a:t>RA vs LA(</a:t>
            </a:r>
            <a:r>
              <a:rPr lang="ko-KR" altLang="en-US"/>
              <a:t>우심방 </a:t>
            </a:r>
            <a:r>
              <a:rPr lang="en-US" altLang="ko-KR"/>
              <a:t>vs </a:t>
            </a:r>
            <a:r>
              <a:rPr lang="ko-KR" altLang="en-US"/>
              <a:t>좌심방</a:t>
            </a:r>
            <a:r>
              <a:rPr lang="en-US" altLang="ko-KR"/>
              <a:t>) </a:t>
            </a:r>
            <a:r>
              <a:rPr lang="ko-KR" altLang="en-US"/>
              <a:t>비교</a:t>
            </a:r>
          </a:p>
          <a:p>
            <a:r>
              <a:rPr lang="en-US" altLang="ko-KR"/>
              <a:t>Atrium vs Ventricle(</a:t>
            </a:r>
            <a:r>
              <a:rPr lang="ko-KR" altLang="en-US"/>
              <a:t>심방 </a:t>
            </a:r>
            <a:r>
              <a:rPr lang="en-US" altLang="ko-KR"/>
              <a:t>vs </a:t>
            </a:r>
            <a:r>
              <a:rPr lang="ko-KR" altLang="en-US"/>
              <a:t>심실</a:t>
            </a:r>
            <a:r>
              <a:rPr lang="en-US" altLang="ko-KR"/>
              <a:t>) </a:t>
            </a:r>
            <a:r>
              <a:rPr lang="ko-KR" altLang="en-US"/>
              <a:t>비교</a:t>
            </a:r>
          </a:p>
          <a:p>
            <a:r>
              <a:rPr lang="en-US" altLang="ko-KR"/>
              <a:t>Endocardium, Epicardium, Myocardium</a:t>
            </a:r>
            <a:r>
              <a:rPr lang="ko-KR" altLang="en-US"/>
              <a:t>의 </a:t>
            </a:r>
            <a:r>
              <a:rPr lang="en-US" altLang="ko-KR"/>
              <a:t>Right vs Left </a:t>
            </a:r>
            <a:r>
              <a:rPr lang="ko-KR" altLang="en-US"/>
              <a:t>비교</a:t>
            </a:r>
          </a:p>
          <a:p>
            <a:r>
              <a:rPr lang="en-US" altLang="ko-KR"/>
              <a:t>Shear Stress</a:t>
            </a:r>
            <a:r>
              <a:rPr lang="ko-KR" altLang="en-US"/>
              <a:t>와 관련된 유전자 확인</a:t>
            </a:r>
          </a:p>
          <a:p>
            <a:r>
              <a:rPr lang="ko-KR" altLang="en-US"/>
              <a:t>염증과 관련된 유전자 확인</a:t>
            </a:r>
          </a:p>
          <a:p>
            <a:endParaRPr lang="en-US" altLang="ko-KR"/>
          </a:p>
          <a:p>
            <a:r>
              <a:rPr lang="ko-KR" altLang="en-US"/>
              <a:t>혈류 스트레스를 많이 받는 </a:t>
            </a:r>
            <a:r>
              <a:rPr lang="en-US" altLang="ko-KR" b="1"/>
              <a:t>Endocardium</a:t>
            </a:r>
            <a:r>
              <a:rPr lang="ko-KR" altLang="en-US" b="1"/>
              <a:t>과 그 주변 </a:t>
            </a:r>
            <a:r>
              <a:rPr lang="en-US" altLang="ko-KR" b="1"/>
              <a:t>Myocardium</a:t>
            </a:r>
            <a:r>
              <a:rPr lang="ko-KR" altLang="en-US" b="1"/>
              <a:t>을 비교 분석하여</a:t>
            </a:r>
            <a:r>
              <a:rPr lang="en-US" altLang="ko-KR"/>
              <a:t>, </a:t>
            </a:r>
            <a:r>
              <a:rPr lang="ko-KR" altLang="en-US"/>
              <a:t>정상 세포가 높은 혈류에 적응하는 데 관여하는 유전자와 </a:t>
            </a:r>
            <a:r>
              <a:rPr lang="en-US" altLang="ko-KR" b="1"/>
              <a:t>pathway</a:t>
            </a:r>
            <a:r>
              <a:rPr lang="ko-KR" altLang="en-US" b="1"/>
              <a:t>를 규명하고자 합니다</a:t>
            </a:r>
            <a:r>
              <a:rPr lang="en-US" altLang="ko-KR" b="1"/>
              <a:t>.</a:t>
            </a:r>
            <a:endParaRPr lang="ko-KR" altLang="en-US"/>
          </a:p>
          <a:p>
            <a:r>
              <a:rPr lang="ko-KR" altLang="en-US"/>
              <a:t>이를 바탕으로 환자 세포에서 정상과의 차이를 확인하여 </a:t>
            </a:r>
            <a:r>
              <a:rPr lang="ko-KR" altLang="en-US" b="1"/>
              <a:t>치료법 개발 및 조기 진단이 가능하도록 하는 연구를 목표로 하고 있습니다</a:t>
            </a:r>
            <a:r>
              <a:rPr lang="en-US" altLang="ko-KR" b="1"/>
              <a:t>.</a:t>
            </a:r>
            <a:endParaRPr lang="ko-KR" altLang="en-US"/>
          </a:p>
          <a:p>
            <a:endParaRPr lang="en-US" altLang="ko-KR"/>
          </a:p>
          <a:p>
            <a:r>
              <a:rPr lang="ko-KR" altLang="en-US"/>
              <a:t>저희 팀은 </a:t>
            </a:r>
            <a:r>
              <a:rPr lang="en-US" altLang="ko-KR" b="1"/>
              <a:t>Endocardium</a:t>
            </a:r>
            <a:r>
              <a:rPr lang="ko-KR" altLang="en-US" b="1"/>
              <a:t>과 </a:t>
            </a:r>
            <a:r>
              <a:rPr lang="en-US" altLang="ko-KR" b="1"/>
              <a:t>Myocardium</a:t>
            </a:r>
            <a:r>
              <a:rPr lang="ko-KR" altLang="en-US" b="1"/>
              <a:t>의 비교 분석</a:t>
            </a:r>
            <a:r>
              <a:rPr lang="ko-KR" altLang="en-US"/>
              <a:t>을 중점적으로 진행할 예정이며</a:t>
            </a:r>
            <a:r>
              <a:rPr lang="en-US" altLang="ko-KR"/>
              <a:t>, </a:t>
            </a:r>
            <a:r>
              <a:rPr lang="ko-KR" altLang="en-US"/>
              <a:t>이를 기반으로 </a:t>
            </a:r>
            <a:r>
              <a:rPr lang="ko-KR" altLang="en-US" b="1"/>
              <a:t>다섯 가지 주요 목표</a:t>
            </a:r>
            <a:r>
              <a:rPr lang="ko-KR" altLang="en-US"/>
              <a:t>를 설정하였습니다</a:t>
            </a:r>
            <a:r>
              <a:rPr lang="en-US" altLang="ko-KR"/>
              <a:t>.</a:t>
            </a:r>
          </a:p>
          <a:p>
            <a:pPr>
              <a:buFont typeface="+mj-lt"/>
              <a:buAutoNum type="arabicPeriod"/>
            </a:pPr>
            <a:r>
              <a:rPr lang="en-US" altLang="ko-KR" b="1"/>
              <a:t>Endocardium vs. Myocardium </a:t>
            </a:r>
            <a:r>
              <a:rPr lang="ko-KR" altLang="en-US" b="1"/>
              <a:t>비교 분석</a:t>
            </a:r>
            <a:endParaRPr lang="ko-KR" altLang="en-US"/>
          </a:p>
          <a:p>
            <a:pPr>
              <a:buFont typeface="+mj-lt"/>
              <a:buAutoNum type="arabicPeriod"/>
            </a:pPr>
            <a:r>
              <a:rPr lang="en-US" altLang="ko-KR" b="1"/>
              <a:t>Endocardium</a:t>
            </a:r>
            <a:r>
              <a:rPr lang="ko-KR" altLang="en-US" b="1"/>
              <a:t>과 가까운 </a:t>
            </a:r>
            <a:r>
              <a:rPr lang="en-US" altLang="ko-KR" b="1"/>
              <a:t>Myocardium vs. </a:t>
            </a:r>
            <a:r>
              <a:rPr lang="ko-KR" altLang="en-US" b="1"/>
              <a:t>먼 </a:t>
            </a:r>
            <a:r>
              <a:rPr lang="en-US" altLang="ko-KR" b="1"/>
              <a:t>Myocardium </a:t>
            </a:r>
            <a:r>
              <a:rPr lang="ko-KR" altLang="en-US" b="1"/>
              <a:t>비교</a:t>
            </a:r>
            <a:endParaRPr lang="ko-KR" altLang="en-US"/>
          </a:p>
          <a:p>
            <a:pPr>
              <a:buFont typeface="+mj-lt"/>
              <a:buAutoNum type="arabicPeriod"/>
            </a:pPr>
            <a:r>
              <a:rPr lang="ko-KR" altLang="en-US" b="1"/>
              <a:t>우심실 </a:t>
            </a:r>
            <a:r>
              <a:rPr lang="en-US" altLang="ko-KR" b="1"/>
              <a:t>vs. </a:t>
            </a:r>
            <a:r>
              <a:rPr lang="ko-KR" altLang="en-US" b="1"/>
              <a:t>좌심실</a:t>
            </a:r>
            <a:r>
              <a:rPr lang="en-US" altLang="ko-KR" b="1"/>
              <a:t>: Endocardium, Epicardium, Myocardium </a:t>
            </a:r>
            <a:r>
              <a:rPr lang="ko-KR" altLang="en-US" b="1"/>
              <a:t>비교</a:t>
            </a:r>
            <a:endParaRPr lang="ko-KR" altLang="en-US"/>
          </a:p>
          <a:p>
            <a:pPr>
              <a:buFont typeface="+mj-lt"/>
              <a:buAutoNum type="arabicPeriod"/>
            </a:pPr>
            <a:r>
              <a:rPr lang="ko-KR" altLang="en-US" b="1"/>
              <a:t>혈류</a:t>
            </a:r>
            <a:r>
              <a:rPr lang="en-US" altLang="ko-KR" b="1"/>
              <a:t>(</a:t>
            </a:r>
            <a:r>
              <a:rPr lang="ko-KR" altLang="en-US" b="1"/>
              <a:t>전단</a:t>
            </a:r>
            <a:r>
              <a:rPr lang="en-US" altLang="ko-KR" b="1"/>
              <a:t>) </a:t>
            </a:r>
            <a:r>
              <a:rPr lang="ko-KR" altLang="en-US" b="1"/>
              <a:t>스트레스</a:t>
            </a:r>
            <a:r>
              <a:rPr lang="en-US" altLang="ko-KR" b="1"/>
              <a:t>(Shear Stress) </a:t>
            </a:r>
            <a:r>
              <a:rPr lang="ko-KR" altLang="en-US" b="1"/>
              <a:t>관련 유전자 규명</a:t>
            </a:r>
            <a:endParaRPr lang="ko-KR" altLang="en-US"/>
          </a:p>
          <a:p>
            <a:pPr>
              <a:buFont typeface="+mj-lt"/>
              <a:buAutoNum type="arabicPeriod"/>
            </a:pPr>
            <a:r>
              <a:rPr lang="ko-KR" altLang="en-US" b="1"/>
              <a:t>염증 반응</a:t>
            </a:r>
            <a:r>
              <a:rPr lang="en-US" altLang="ko-KR" b="1"/>
              <a:t>(Inflammation) </a:t>
            </a:r>
            <a:r>
              <a:rPr lang="ko-KR" altLang="en-US" b="1"/>
              <a:t>관련 유전자 규명</a:t>
            </a:r>
            <a:endParaRPr lang="ko-KR" altLang="en-US"/>
          </a:p>
          <a:p>
            <a:r>
              <a:rPr lang="ko-KR" altLang="en-US"/>
              <a:t>이 연구를 통해 </a:t>
            </a:r>
            <a:r>
              <a:rPr lang="ko-KR" altLang="en-US" b="1"/>
              <a:t>혈류 스트레스가 높은 </a:t>
            </a:r>
            <a:r>
              <a:rPr lang="en-US" altLang="ko-KR" b="1"/>
              <a:t>Endocardium</a:t>
            </a:r>
            <a:r>
              <a:rPr lang="ko-KR" altLang="en-US" b="1"/>
              <a:t>과 그 주변 </a:t>
            </a:r>
            <a:r>
              <a:rPr lang="en-US" altLang="ko-KR" b="1"/>
              <a:t>Myocardium</a:t>
            </a:r>
            <a:r>
              <a:rPr lang="ko-KR" altLang="en-US" b="1"/>
              <a:t>을 비교 분석</a:t>
            </a:r>
            <a:r>
              <a:rPr lang="ko-KR" altLang="en-US"/>
              <a:t>하여</a:t>
            </a:r>
            <a:r>
              <a:rPr lang="en-US" altLang="ko-KR"/>
              <a:t>, </a:t>
            </a:r>
            <a:r>
              <a:rPr lang="ko-KR" altLang="en-US"/>
              <a:t>정상 세포가 높은 혈류 환경에 적응하는 데 관여하는 </a:t>
            </a:r>
            <a:r>
              <a:rPr lang="ko-KR" altLang="en-US" b="1"/>
              <a:t>핵심 유전자 및 관련 신호 경로</a:t>
            </a:r>
            <a:r>
              <a:rPr lang="en-US" altLang="ko-KR" b="1"/>
              <a:t>(Pathway)</a:t>
            </a:r>
            <a:r>
              <a:rPr lang="ko-KR" altLang="en-US" b="1"/>
              <a:t>를 규명</a:t>
            </a:r>
            <a:r>
              <a:rPr lang="ko-KR" altLang="en-US"/>
              <a:t>하고자 합니다</a:t>
            </a:r>
            <a:r>
              <a:rPr lang="en-US" altLang="ko-KR"/>
              <a:t>.</a:t>
            </a:r>
          </a:p>
          <a:p>
            <a:r>
              <a:rPr lang="ko-KR" altLang="en-US"/>
              <a:t>나아가</a:t>
            </a:r>
            <a:r>
              <a:rPr lang="en-US" altLang="ko-KR"/>
              <a:t>, </a:t>
            </a:r>
            <a:r>
              <a:rPr lang="ko-KR" altLang="en-US"/>
              <a:t>이를 바탕으로 </a:t>
            </a:r>
            <a:r>
              <a:rPr lang="ko-KR" altLang="en-US" b="1"/>
              <a:t>환자 세포에서 정상과의 차이를 분석</a:t>
            </a:r>
            <a:r>
              <a:rPr lang="ko-KR" altLang="en-US"/>
              <a:t>하여 </a:t>
            </a:r>
            <a:r>
              <a:rPr lang="ko-KR" altLang="en-US" b="1"/>
              <a:t>질환 치료법 개발 및 조기 진단 가능성</a:t>
            </a:r>
            <a:r>
              <a:rPr lang="ko-KR" altLang="en-US"/>
              <a:t>을 모색하는 것이 본 연구의 궁극적인 목표입니다</a:t>
            </a:r>
            <a:r>
              <a:rPr lang="en-US" altLang="ko-KR"/>
              <a:t>.</a:t>
            </a:r>
          </a:p>
          <a:p>
            <a:endParaRPr lang="ko-KR" altLang="en-US"/>
          </a:p>
        </p:txBody>
      </p:sp>
      <p:sp>
        <p:nvSpPr>
          <p:cNvPr id="4" name="슬라이드 번호 개체 틀 3"/>
          <p:cNvSpPr>
            <a:spLocks noGrp="1"/>
          </p:cNvSpPr>
          <p:nvPr>
            <p:ph type="sldNum" sz="quarter" idx="5"/>
          </p:nvPr>
        </p:nvSpPr>
        <p:spPr/>
        <p:txBody>
          <a:bodyPr/>
          <a:lstStyle/>
          <a:p>
            <a:fld id="{85AB6B45-8C4E-4C2B-8211-7E29841FDB87}" type="slidenum">
              <a:rPr lang="ko-KR" altLang="en-US" smtClean="0"/>
              <a:t>7</a:t>
            </a:fld>
            <a:endParaRPr lang="ko-KR" altLang="en-US"/>
          </a:p>
        </p:txBody>
      </p:sp>
    </p:spTree>
    <p:extLst>
      <p:ext uri="{BB962C8B-B14F-4D97-AF65-F5344CB8AC3E}">
        <p14:creationId xmlns:p14="http://schemas.microsoft.com/office/powerpoint/2010/main" val="921774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이번 해커톤에서 저희 팀의 목표는 </a:t>
            </a:r>
            <a:r>
              <a:rPr lang="ko-KR" altLang="en-US" b="1"/>
              <a:t>완전 초보자로서 단기간 내에 공간전사체 및 싱글셀 분석을 배우고 직접 수행하는 것</a:t>
            </a:r>
            <a:r>
              <a:rPr lang="ko-KR" altLang="en-US"/>
              <a:t>입니다</a:t>
            </a:r>
            <a:r>
              <a:rPr lang="en-US" altLang="ko-KR"/>
              <a:t>.</a:t>
            </a:r>
          </a:p>
          <a:p>
            <a:r>
              <a:rPr lang="ko-KR" altLang="en-US"/>
              <a:t>저희는 </a:t>
            </a:r>
            <a:r>
              <a:rPr lang="ko-KR" altLang="en-US" b="1"/>
              <a:t>툴 개발이 아닌 분석 자체에 초점을 두고 있으며</a:t>
            </a:r>
            <a:r>
              <a:rPr lang="en-US" altLang="ko-KR"/>
              <a:t>, </a:t>
            </a:r>
            <a:r>
              <a:rPr lang="ko-KR" altLang="en-US"/>
              <a:t>초보자분들의 참여를 적극 환영합니다</a:t>
            </a:r>
            <a:r>
              <a:rPr lang="en-US" altLang="ko-KR"/>
              <a:t>. </a:t>
            </a:r>
            <a:r>
              <a:rPr lang="ko-KR" altLang="en-US" b="1"/>
              <a:t>저희도 초보이기에 함께 배우고 성장할 분들을 찾고 있습니다</a:t>
            </a:r>
            <a:r>
              <a:rPr lang="en-US" altLang="ko-KR" b="1"/>
              <a:t>.</a:t>
            </a:r>
            <a:endParaRPr lang="ko-KR" altLang="en-US"/>
          </a:p>
          <a:p>
            <a:r>
              <a:rPr lang="ko-KR" altLang="en-US"/>
              <a:t>또한</a:t>
            </a:r>
            <a:r>
              <a:rPr lang="en-US" altLang="ko-KR"/>
              <a:t>, </a:t>
            </a:r>
            <a:r>
              <a:rPr lang="ko-KR" altLang="en-US"/>
              <a:t>경험이 많은 참가자분들이 오셔서 도움을 주신다면 더욱 감사하겠습니다</a:t>
            </a:r>
            <a:r>
              <a:rPr lang="en-US" altLang="ko-KR"/>
              <a:t>.</a:t>
            </a:r>
          </a:p>
          <a:p>
            <a:r>
              <a:rPr lang="ko-KR" altLang="en-US" b="1"/>
              <a:t>특히 심장 연구 전문가분들의 참여도 환영합니다</a:t>
            </a:r>
            <a:r>
              <a:rPr lang="en-US" altLang="ko-KR" b="1"/>
              <a:t>!</a:t>
            </a:r>
            <a:endParaRPr lang="ko-KR" altLang="en-US"/>
          </a:p>
          <a:p>
            <a:endParaRPr lang="ko-KR" altLang="en-US"/>
          </a:p>
        </p:txBody>
      </p:sp>
      <p:sp>
        <p:nvSpPr>
          <p:cNvPr id="4" name="슬라이드 번호 개체 틀 3"/>
          <p:cNvSpPr>
            <a:spLocks noGrp="1"/>
          </p:cNvSpPr>
          <p:nvPr>
            <p:ph type="sldNum" sz="quarter" idx="5"/>
          </p:nvPr>
        </p:nvSpPr>
        <p:spPr/>
        <p:txBody>
          <a:bodyPr/>
          <a:lstStyle/>
          <a:p>
            <a:fld id="{85AB6B45-8C4E-4C2B-8211-7E29841FDB87}" type="slidenum">
              <a:rPr lang="ko-KR" altLang="en-US" smtClean="0"/>
              <a:t>8</a:t>
            </a:fld>
            <a:endParaRPr lang="ko-KR" altLang="en-US"/>
          </a:p>
        </p:txBody>
      </p:sp>
    </p:spTree>
    <p:extLst>
      <p:ext uri="{BB962C8B-B14F-4D97-AF65-F5344CB8AC3E}">
        <p14:creationId xmlns:p14="http://schemas.microsoft.com/office/powerpoint/2010/main" val="2182895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15C5EE-3F47-ED99-61F2-031155DFE3A0}"/>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7EE73BE0-E980-28E5-E011-0715C564E7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68F731A3-A86D-48D9-8DA2-9134D686D6FC}"/>
              </a:ext>
            </a:extLst>
          </p:cNvPr>
          <p:cNvSpPr>
            <a:spLocks noGrp="1"/>
          </p:cNvSpPr>
          <p:nvPr>
            <p:ph type="dt" sz="half" idx="10"/>
          </p:nvPr>
        </p:nvSpPr>
        <p:spPr/>
        <p:txBody>
          <a:bodyPr/>
          <a:lstStyle/>
          <a:p>
            <a:fld id="{CC241F6C-7A90-4DCA-87CD-58C64F0828AA}" type="datetimeFigureOut">
              <a:rPr lang="ko-KR" altLang="en-US" smtClean="0"/>
              <a:t>2025-02-15</a:t>
            </a:fld>
            <a:endParaRPr lang="ko-KR" altLang="en-US"/>
          </a:p>
        </p:txBody>
      </p:sp>
      <p:sp>
        <p:nvSpPr>
          <p:cNvPr id="5" name="바닥글 개체 틀 4">
            <a:extLst>
              <a:ext uri="{FF2B5EF4-FFF2-40B4-BE49-F238E27FC236}">
                <a16:creationId xmlns:a16="http://schemas.microsoft.com/office/drawing/2014/main" id="{A392D549-2206-07F9-7C88-2FD399C060D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D48B7B0-CA29-26CD-4A19-CB0072E02F94}"/>
              </a:ext>
            </a:extLst>
          </p:cNvPr>
          <p:cNvSpPr>
            <a:spLocks noGrp="1"/>
          </p:cNvSpPr>
          <p:nvPr>
            <p:ph type="sldNum" sz="quarter" idx="12"/>
          </p:nvPr>
        </p:nvSpPr>
        <p:spPr/>
        <p:txBody>
          <a:bodyPr/>
          <a:lstStyle/>
          <a:p>
            <a:fld id="{159423AC-2744-4863-85A2-E06FA088E48C}" type="slidenum">
              <a:rPr lang="ko-KR" altLang="en-US" smtClean="0"/>
              <a:t>‹#›</a:t>
            </a:fld>
            <a:endParaRPr lang="ko-KR" altLang="en-US"/>
          </a:p>
        </p:txBody>
      </p:sp>
    </p:spTree>
    <p:extLst>
      <p:ext uri="{BB962C8B-B14F-4D97-AF65-F5344CB8AC3E}">
        <p14:creationId xmlns:p14="http://schemas.microsoft.com/office/powerpoint/2010/main" val="68907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D274C0-EC3C-6367-B479-CD837021B140}"/>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C3E6F1E7-56C6-FC2C-AEFC-A827690D89EB}"/>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3D545DC-7A69-952E-C22D-1E734A622F1F}"/>
              </a:ext>
            </a:extLst>
          </p:cNvPr>
          <p:cNvSpPr>
            <a:spLocks noGrp="1"/>
          </p:cNvSpPr>
          <p:nvPr>
            <p:ph type="dt" sz="half" idx="10"/>
          </p:nvPr>
        </p:nvSpPr>
        <p:spPr/>
        <p:txBody>
          <a:bodyPr/>
          <a:lstStyle/>
          <a:p>
            <a:fld id="{CC241F6C-7A90-4DCA-87CD-58C64F0828AA}" type="datetimeFigureOut">
              <a:rPr lang="ko-KR" altLang="en-US" smtClean="0"/>
              <a:t>2025-02-15</a:t>
            </a:fld>
            <a:endParaRPr lang="ko-KR" altLang="en-US"/>
          </a:p>
        </p:txBody>
      </p:sp>
      <p:sp>
        <p:nvSpPr>
          <p:cNvPr id="5" name="바닥글 개체 틀 4">
            <a:extLst>
              <a:ext uri="{FF2B5EF4-FFF2-40B4-BE49-F238E27FC236}">
                <a16:creationId xmlns:a16="http://schemas.microsoft.com/office/drawing/2014/main" id="{58496808-44EE-AE53-73D9-58A4EFE9E29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D7623BE-C724-1887-2F1E-844C059BD2A2}"/>
              </a:ext>
            </a:extLst>
          </p:cNvPr>
          <p:cNvSpPr>
            <a:spLocks noGrp="1"/>
          </p:cNvSpPr>
          <p:nvPr>
            <p:ph type="sldNum" sz="quarter" idx="12"/>
          </p:nvPr>
        </p:nvSpPr>
        <p:spPr/>
        <p:txBody>
          <a:bodyPr/>
          <a:lstStyle/>
          <a:p>
            <a:fld id="{159423AC-2744-4863-85A2-E06FA088E48C}" type="slidenum">
              <a:rPr lang="ko-KR" altLang="en-US" smtClean="0"/>
              <a:t>‹#›</a:t>
            </a:fld>
            <a:endParaRPr lang="ko-KR" altLang="en-US"/>
          </a:p>
        </p:txBody>
      </p:sp>
    </p:spTree>
    <p:extLst>
      <p:ext uri="{BB962C8B-B14F-4D97-AF65-F5344CB8AC3E}">
        <p14:creationId xmlns:p14="http://schemas.microsoft.com/office/powerpoint/2010/main" val="4218128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6854764-8AC4-35C7-7B96-6996EC51C14D}"/>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B50049B6-3416-FD8C-F1DD-36994C3F48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CAD7674-026C-4744-FD88-34512BA22EA7}"/>
              </a:ext>
            </a:extLst>
          </p:cNvPr>
          <p:cNvSpPr>
            <a:spLocks noGrp="1"/>
          </p:cNvSpPr>
          <p:nvPr>
            <p:ph type="dt" sz="half" idx="10"/>
          </p:nvPr>
        </p:nvSpPr>
        <p:spPr/>
        <p:txBody>
          <a:bodyPr/>
          <a:lstStyle/>
          <a:p>
            <a:fld id="{CC241F6C-7A90-4DCA-87CD-58C64F0828AA}" type="datetimeFigureOut">
              <a:rPr lang="ko-KR" altLang="en-US" smtClean="0"/>
              <a:t>2025-02-15</a:t>
            </a:fld>
            <a:endParaRPr lang="ko-KR" altLang="en-US"/>
          </a:p>
        </p:txBody>
      </p:sp>
      <p:sp>
        <p:nvSpPr>
          <p:cNvPr id="5" name="바닥글 개체 틀 4">
            <a:extLst>
              <a:ext uri="{FF2B5EF4-FFF2-40B4-BE49-F238E27FC236}">
                <a16:creationId xmlns:a16="http://schemas.microsoft.com/office/drawing/2014/main" id="{A0E3B9C6-1B5E-D1F5-0804-3113D7B157B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B7383C7-221C-A59B-20AE-27FC01CADA6A}"/>
              </a:ext>
            </a:extLst>
          </p:cNvPr>
          <p:cNvSpPr>
            <a:spLocks noGrp="1"/>
          </p:cNvSpPr>
          <p:nvPr>
            <p:ph type="sldNum" sz="quarter" idx="12"/>
          </p:nvPr>
        </p:nvSpPr>
        <p:spPr/>
        <p:txBody>
          <a:bodyPr/>
          <a:lstStyle/>
          <a:p>
            <a:fld id="{159423AC-2744-4863-85A2-E06FA088E48C}" type="slidenum">
              <a:rPr lang="ko-KR" altLang="en-US" smtClean="0"/>
              <a:t>‹#›</a:t>
            </a:fld>
            <a:endParaRPr lang="ko-KR" altLang="en-US"/>
          </a:p>
        </p:txBody>
      </p:sp>
    </p:spTree>
    <p:extLst>
      <p:ext uri="{BB962C8B-B14F-4D97-AF65-F5344CB8AC3E}">
        <p14:creationId xmlns:p14="http://schemas.microsoft.com/office/powerpoint/2010/main" val="1102665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FCA01BB-0F0C-6729-E71C-C0031361CF4E}"/>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2CB71CE6-FBFD-B360-A287-F8F7DF8836D4}"/>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5D422B43-AEC8-17FC-3D11-E949C8DE5E05}"/>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6766E7C-CAAA-9CE3-FA55-3015800F7518}"/>
              </a:ext>
            </a:extLst>
          </p:cNvPr>
          <p:cNvSpPr>
            <a:spLocks noGrp="1"/>
          </p:cNvSpPr>
          <p:nvPr>
            <p:ph type="dt" sz="half" idx="10"/>
          </p:nvPr>
        </p:nvSpPr>
        <p:spPr/>
        <p:txBody>
          <a:bodyPr/>
          <a:lstStyle/>
          <a:p>
            <a:fld id="{CC241F6C-7A90-4DCA-87CD-58C64F0828AA}" type="datetimeFigureOut">
              <a:rPr lang="ko-KR" altLang="en-US" smtClean="0"/>
              <a:t>2025-02-15</a:t>
            </a:fld>
            <a:endParaRPr lang="ko-KR" altLang="en-US"/>
          </a:p>
        </p:txBody>
      </p:sp>
      <p:sp>
        <p:nvSpPr>
          <p:cNvPr id="6" name="바닥글 개체 틀 5">
            <a:extLst>
              <a:ext uri="{FF2B5EF4-FFF2-40B4-BE49-F238E27FC236}">
                <a16:creationId xmlns:a16="http://schemas.microsoft.com/office/drawing/2014/main" id="{86AA8EC6-E8EF-888C-3783-D1551FA69AC7}"/>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16153738-B0B1-4034-C9BF-30C34EF0941A}"/>
              </a:ext>
            </a:extLst>
          </p:cNvPr>
          <p:cNvSpPr>
            <a:spLocks noGrp="1"/>
          </p:cNvSpPr>
          <p:nvPr>
            <p:ph type="sldNum" sz="quarter" idx="12"/>
          </p:nvPr>
        </p:nvSpPr>
        <p:spPr/>
        <p:txBody>
          <a:bodyPr/>
          <a:lstStyle/>
          <a:p>
            <a:fld id="{159423AC-2744-4863-85A2-E06FA088E48C}" type="slidenum">
              <a:rPr lang="ko-KR" altLang="en-US" smtClean="0"/>
              <a:t>‹#›</a:t>
            </a:fld>
            <a:endParaRPr lang="ko-KR" altLang="en-US"/>
          </a:p>
        </p:txBody>
      </p:sp>
    </p:spTree>
    <p:extLst>
      <p:ext uri="{BB962C8B-B14F-4D97-AF65-F5344CB8AC3E}">
        <p14:creationId xmlns:p14="http://schemas.microsoft.com/office/powerpoint/2010/main" val="1754056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6FF9AA-77D2-3DC2-EC5E-1753ABC6BE6E}"/>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DF505974-A51F-D582-8E38-D9174378B9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983418E2-F999-0FEE-ED1D-E2B38E8AE844}"/>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41F7A888-BFC7-75A7-F8B7-49341F74A4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3825FDFC-6E87-8A37-D3A6-4A58CD7932B5}"/>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1F184F05-16C7-C1B7-B69E-86685B4D9A83}"/>
              </a:ext>
            </a:extLst>
          </p:cNvPr>
          <p:cNvSpPr>
            <a:spLocks noGrp="1"/>
          </p:cNvSpPr>
          <p:nvPr>
            <p:ph type="dt" sz="half" idx="10"/>
          </p:nvPr>
        </p:nvSpPr>
        <p:spPr/>
        <p:txBody>
          <a:bodyPr/>
          <a:lstStyle/>
          <a:p>
            <a:fld id="{CC241F6C-7A90-4DCA-87CD-58C64F0828AA}" type="datetimeFigureOut">
              <a:rPr lang="ko-KR" altLang="en-US" smtClean="0"/>
              <a:t>2025-02-15</a:t>
            </a:fld>
            <a:endParaRPr lang="ko-KR" altLang="en-US"/>
          </a:p>
        </p:txBody>
      </p:sp>
      <p:sp>
        <p:nvSpPr>
          <p:cNvPr id="8" name="바닥글 개체 틀 7">
            <a:extLst>
              <a:ext uri="{FF2B5EF4-FFF2-40B4-BE49-F238E27FC236}">
                <a16:creationId xmlns:a16="http://schemas.microsoft.com/office/drawing/2014/main" id="{5A94E0C6-8E4D-2725-C921-9CE973F8B14D}"/>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15BBBEBB-930A-07FE-B1A3-F153CE852D00}"/>
              </a:ext>
            </a:extLst>
          </p:cNvPr>
          <p:cNvSpPr>
            <a:spLocks noGrp="1"/>
          </p:cNvSpPr>
          <p:nvPr>
            <p:ph type="sldNum" sz="quarter" idx="12"/>
          </p:nvPr>
        </p:nvSpPr>
        <p:spPr/>
        <p:txBody>
          <a:bodyPr/>
          <a:lstStyle/>
          <a:p>
            <a:fld id="{159423AC-2744-4863-85A2-E06FA088E48C}" type="slidenum">
              <a:rPr lang="ko-KR" altLang="en-US" smtClean="0"/>
              <a:t>‹#›</a:t>
            </a:fld>
            <a:endParaRPr lang="ko-KR" altLang="en-US"/>
          </a:p>
        </p:txBody>
      </p:sp>
    </p:spTree>
    <p:extLst>
      <p:ext uri="{BB962C8B-B14F-4D97-AF65-F5344CB8AC3E}">
        <p14:creationId xmlns:p14="http://schemas.microsoft.com/office/powerpoint/2010/main" val="3258198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45BA4E-DA33-1AC8-18F5-2242866D8FB9}"/>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41EC1FE7-8F08-502E-FC2F-2D51991F0479}"/>
              </a:ext>
            </a:extLst>
          </p:cNvPr>
          <p:cNvSpPr>
            <a:spLocks noGrp="1"/>
          </p:cNvSpPr>
          <p:nvPr>
            <p:ph type="dt" sz="half" idx="10"/>
          </p:nvPr>
        </p:nvSpPr>
        <p:spPr/>
        <p:txBody>
          <a:bodyPr/>
          <a:lstStyle/>
          <a:p>
            <a:fld id="{CC241F6C-7A90-4DCA-87CD-58C64F0828AA}" type="datetimeFigureOut">
              <a:rPr lang="ko-KR" altLang="en-US" smtClean="0"/>
              <a:t>2025-02-15</a:t>
            </a:fld>
            <a:endParaRPr lang="ko-KR" altLang="en-US"/>
          </a:p>
        </p:txBody>
      </p:sp>
      <p:sp>
        <p:nvSpPr>
          <p:cNvPr id="4" name="바닥글 개체 틀 3">
            <a:extLst>
              <a:ext uri="{FF2B5EF4-FFF2-40B4-BE49-F238E27FC236}">
                <a16:creationId xmlns:a16="http://schemas.microsoft.com/office/drawing/2014/main" id="{B800F8E6-64F9-CB7F-FB91-2869A0D18A9A}"/>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ED1DB36-0100-72DA-04C0-C1FBDC4A5C0A}"/>
              </a:ext>
            </a:extLst>
          </p:cNvPr>
          <p:cNvSpPr>
            <a:spLocks noGrp="1"/>
          </p:cNvSpPr>
          <p:nvPr>
            <p:ph type="sldNum" sz="quarter" idx="12"/>
          </p:nvPr>
        </p:nvSpPr>
        <p:spPr/>
        <p:txBody>
          <a:bodyPr/>
          <a:lstStyle/>
          <a:p>
            <a:fld id="{159423AC-2744-4863-85A2-E06FA088E48C}" type="slidenum">
              <a:rPr lang="ko-KR" altLang="en-US" smtClean="0"/>
              <a:t>‹#›</a:t>
            </a:fld>
            <a:endParaRPr lang="ko-KR" altLang="en-US"/>
          </a:p>
        </p:txBody>
      </p:sp>
    </p:spTree>
    <p:extLst>
      <p:ext uri="{BB962C8B-B14F-4D97-AF65-F5344CB8AC3E}">
        <p14:creationId xmlns:p14="http://schemas.microsoft.com/office/powerpoint/2010/main" val="4069387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E8533CCF-075D-BA5E-F558-A3867A1B2C8C}"/>
              </a:ext>
            </a:extLst>
          </p:cNvPr>
          <p:cNvSpPr>
            <a:spLocks noGrp="1"/>
          </p:cNvSpPr>
          <p:nvPr>
            <p:ph type="dt" sz="half" idx="10"/>
          </p:nvPr>
        </p:nvSpPr>
        <p:spPr/>
        <p:txBody>
          <a:bodyPr/>
          <a:lstStyle/>
          <a:p>
            <a:fld id="{CC241F6C-7A90-4DCA-87CD-58C64F0828AA}" type="datetimeFigureOut">
              <a:rPr lang="ko-KR" altLang="en-US" smtClean="0"/>
              <a:t>2025-02-15</a:t>
            </a:fld>
            <a:endParaRPr lang="ko-KR" altLang="en-US"/>
          </a:p>
        </p:txBody>
      </p:sp>
      <p:sp>
        <p:nvSpPr>
          <p:cNvPr id="3" name="바닥글 개체 틀 2">
            <a:extLst>
              <a:ext uri="{FF2B5EF4-FFF2-40B4-BE49-F238E27FC236}">
                <a16:creationId xmlns:a16="http://schemas.microsoft.com/office/drawing/2014/main" id="{66AF6691-E10F-4C3F-3E2A-6572E3E479D6}"/>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987CDDE0-895F-A103-72F9-3CA2327B2BA6}"/>
              </a:ext>
            </a:extLst>
          </p:cNvPr>
          <p:cNvSpPr>
            <a:spLocks noGrp="1"/>
          </p:cNvSpPr>
          <p:nvPr>
            <p:ph type="sldNum" sz="quarter" idx="12"/>
          </p:nvPr>
        </p:nvSpPr>
        <p:spPr/>
        <p:txBody>
          <a:bodyPr/>
          <a:lstStyle/>
          <a:p>
            <a:fld id="{159423AC-2744-4863-85A2-E06FA088E48C}" type="slidenum">
              <a:rPr lang="ko-KR" altLang="en-US" smtClean="0"/>
              <a:t>‹#›</a:t>
            </a:fld>
            <a:endParaRPr lang="ko-KR" altLang="en-US"/>
          </a:p>
        </p:txBody>
      </p:sp>
    </p:spTree>
    <p:extLst>
      <p:ext uri="{BB962C8B-B14F-4D97-AF65-F5344CB8AC3E}">
        <p14:creationId xmlns:p14="http://schemas.microsoft.com/office/powerpoint/2010/main" val="3176704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5A43E13-6C00-C4C8-64F1-5851C0A96AD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B69FEBC-891A-A544-2D52-D1463487C7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86FE3EB8-6604-528C-4E37-C0EBE70B16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4D536BE5-29A6-33DE-1380-27628D46850F}"/>
              </a:ext>
            </a:extLst>
          </p:cNvPr>
          <p:cNvSpPr>
            <a:spLocks noGrp="1"/>
          </p:cNvSpPr>
          <p:nvPr>
            <p:ph type="dt" sz="half" idx="10"/>
          </p:nvPr>
        </p:nvSpPr>
        <p:spPr/>
        <p:txBody>
          <a:bodyPr/>
          <a:lstStyle/>
          <a:p>
            <a:fld id="{CC241F6C-7A90-4DCA-87CD-58C64F0828AA}" type="datetimeFigureOut">
              <a:rPr lang="ko-KR" altLang="en-US" smtClean="0"/>
              <a:t>2025-02-15</a:t>
            </a:fld>
            <a:endParaRPr lang="ko-KR" altLang="en-US"/>
          </a:p>
        </p:txBody>
      </p:sp>
      <p:sp>
        <p:nvSpPr>
          <p:cNvPr id="6" name="바닥글 개체 틀 5">
            <a:extLst>
              <a:ext uri="{FF2B5EF4-FFF2-40B4-BE49-F238E27FC236}">
                <a16:creationId xmlns:a16="http://schemas.microsoft.com/office/drawing/2014/main" id="{EDEE9BE1-0789-96F9-F3FA-2F37A313B70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C0C1A3E-B269-4AB0-47C7-E81C725FCD29}"/>
              </a:ext>
            </a:extLst>
          </p:cNvPr>
          <p:cNvSpPr>
            <a:spLocks noGrp="1"/>
          </p:cNvSpPr>
          <p:nvPr>
            <p:ph type="sldNum" sz="quarter" idx="12"/>
          </p:nvPr>
        </p:nvSpPr>
        <p:spPr/>
        <p:txBody>
          <a:bodyPr/>
          <a:lstStyle/>
          <a:p>
            <a:fld id="{159423AC-2744-4863-85A2-E06FA088E48C}" type="slidenum">
              <a:rPr lang="ko-KR" altLang="en-US" smtClean="0"/>
              <a:t>‹#›</a:t>
            </a:fld>
            <a:endParaRPr lang="ko-KR" altLang="en-US"/>
          </a:p>
        </p:txBody>
      </p:sp>
    </p:spTree>
    <p:extLst>
      <p:ext uri="{BB962C8B-B14F-4D97-AF65-F5344CB8AC3E}">
        <p14:creationId xmlns:p14="http://schemas.microsoft.com/office/powerpoint/2010/main" val="394300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DB7029C-D2D4-CB11-AE02-0F313BC00B39}"/>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903EEC5A-898D-369E-F86A-C061C63377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4CD697BD-0A29-5730-86A2-579E635E9B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89196BBA-6E37-1D07-2ACB-64A67FCCFED7}"/>
              </a:ext>
            </a:extLst>
          </p:cNvPr>
          <p:cNvSpPr>
            <a:spLocks noGrp="1"/>
          </p:cNvSpPr>
          <p:nvPr>
            <p:ph type="dt" sz="half" idx="10"/>
          </p:nvPr>
        </p:nvSpPr>
        <p:spPr/>
        <p:txBody>
          <a:bodyPr/>
          <a:lstStyle/>
          <a:p>
            <a:fld id="{CC241F6C-7A90-4DCA-87CD-58C64F0828AA}" type="datetimeFigureOut">
              <a:rPr lang="ko-KR" altLang="en-US" smtClean="0"/>
              <a:t>2025-02-15</a:t>
            </a:fld>
            <a:endParaRPr lang="ko-KR" altLang="en-US"/>
          </a:p>
        </p:txBody>
      </p:sp>
      <p:sp>
        <p:nvSpPr>
          <p:cNvPr id="6" name="바닥글 개체 틀 5">
            <a:extLst>
              <a:ext uri="{FF2B5EF4-FFF2-40B4-BE49-F238E27FC236}">
                <a16:creationId xmlns:a16="http://schemas.microsoft.com/office/drawing/2014/main" id="{287B460E-AC52-51F0-58F5-E7B5A647272B}"/>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F8A93D1-1F8B-BCF5-96F2-73E1F5FBAE24}"/>
              </a:ext>
            </a:extLst>
          </p:cNvPr>
          <p:cNvSpPr>
            <a:spLocks noGrp="1"/>
          </p:cNvSpPr>
          <p:nvPr>
            <p:ph type="sldNum" sz="quarter" idx="12"/>
          </p:nvPr>
        </p:nvSpPr>
        <p:spPr/>
        <p:txBody>
          <a:bodyPr/>
          <a:lstStyle/>
          <a:p>
            <a:fld id="{159423AC-2744-4863-85A2-E06FA088E48C}" type="slidenum">
              <a:rPr lang="ko-KR" altLang="en-US" smtClean="0"/>
              <a:t>‹#›</a:t>
            </a:fld>
            <a:endParaRPr lang="ko-KR" altLang="en-US"/>
          </a:p>
        </p:txBody>
      </p:sp>
    </p:spTree>
    <p:extLst>
      <p:ext uri="{BB962C8B-B14F-4D97-AF65-F5344CB8AC3E}">
        <p14:creationId xmlns:p14="http://schemas.microsoft.com/office/powerpoint/2010/main" val="2018178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E5C439-8983-8D13-DFE9-55D9B3F20C9D}"/>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BB8B62D3-B03D-11FA-AD93-12019C549CC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128AD92C-73C0-8201-FFB9-7CB0341FEF8F}"/>
              </a:ext>
            </a:extLst>
          </p:cNvPr>
          <p:cNvSpPr>
            <a:spLocks noGrp="1"/>
          </p:cNvSpPr>
          <p:nvPr>
            <p:ph type="dt" sz="half" idx="10"/>
          </p:nvPr>
        </p:nvSpPr>
        <p:spPr/>
        <p:txBody>
          <a:bodyPr/>
          <a:lstStyle/>
          <a:p>
            <a:fld id="{CC241F6C-7A90-4DCA-87CD-58C64F0828AA}" type="datetimeFigureOut">
              <a:rPr lang="ko-KR" altLang="en-US" smtClean="0"/>
              <a:t>2025-02-15</a:t>
            </a:fld>
            <a:endParaRPr lang="ko-KR" altLang="en-US"/>
          </a:p>
        </p:txBody>
      </p:sp>
      <p:sp>
        <p:nvSpPr>
          <p:cNvPr id="5" name="바닥글 개체 틀 4">
            <a:extLst>
              <a:ext uri="{FF2B5EF4-FFF2-40B4-BE49-F238E27FC236}">
                <a16:creationId xmlns:a16="http://schemas.microsoft.com/office/drawing/2014/main" id="{EE1B323C-CDE2-1294-24F7-63460E80CAF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4297DC4-B971-1775-B357-513671DB3C8E}"/>
              </a:ext>
            </a:extLst>
          </p:cNvPr>
          <p:cNvSpPr>
            <a:spLocks noGrp="1"/>
          </p:cNvSpPr>
          <p:nvPr>
            <p:ph type="sldNum" sz="quarter" idx="12"/>
          </p:nvPr>
        </p:nvSpPr>
        <p:spPr/>
        <p:txBody>
          <a:bodyPr/>
          <a:lstStyle/>
          <a:p>
            <a:fld id="{159423AC-2744-4863-85A2-E06FA088E48C}" type="slidenum">
              <a:rPr lang="ko-KR" altLang="en-US" smtClean="0"/>
              <a:t>‹#›</a:t>
            </a:fld>
            <a:endParaRPr lang="ko-KR" altLang="en-US"/>
          </a:p>
        </p:txBody>
      </p:sp>
    </p:spTree>
    <p:extLst>
      <p:ext uri="{BB962C8B-B14F-4D97-AF65-F5344CB8AC3E}">
        <p14:creationId xmlns:p14="http://schemas.microsoft.com/office/powerpoint/2010/main" val="2277037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907B5D6A-834B-3E28-2CB3-C3C9E6750070}"/>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D1799338-D51F-9A1D-CB67-C63D1FA39D5C}"/>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DA9687A-2DE2-2F38-380F-DBE70F9B3FD3}"/>
              </a:ext>
            </a:extLst>
          </p:cNvPr>
          <p:cNvSpPr>
            <a:spLocks noGrp="1"/>
          </p:cNvSpPr>
          <p:nvPr>
            <p:ph type="dt" sz="half" idx="10"/>
          </p:nvPr>
        </p:nvSpPr>
        <p:spPr/>
        <p:txBody>
          <a:bodyPr/>
          <a:lstStyle/>
          <a:p>
            <a:fld id="{CC241F6C-7A90-4DCA-87CD-58C64F0828AA}" type="datetimeFigureOut">
              <a:rPr lang="ko-KR" altLang="en-US" smtClean="0"/>
              <a:t>2025-02-15</a:t>
            </a:fld>
            <a:endParaRPr lang="ko-KR" altLang="en-US"/>
          </a:p>
        </p:txBody>
      </p:sp>
      <p:sp>
        <p:nvSpPr>
          <p:cNvPr id="5" name="바닥글 개체 틀 4">
            <a:extLst>
              <a:ext uri="{FF2B5EF4-FFF2-40B4-BE49-F238E27FC236}">
                <a16:creationId xmlns:a16="http://schemas.microsoft.com/office/drawing/2014/main" id="{6F190DAD-051A-C02D-A087-79554449C22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DA04BA8-9716-ECFD-8A37-2F2B35A80F52}"/>
              </a:ext>
            </a:extLst>
          </p:cNvPr>
          <p:cNvSpPr>
            <a:spLocks noGrp="1"/>
          </p:cNvSpPr>
          <p:nvPr>
            <p:ph type="sldNum" sz="quarter" idx="12"/>
          </p:nvPr>
        </p:nvSpPr>
        <p:spPr/>
        <p:txBody>
          <a:bodyPr/>
          <a:lstStyle/>
          <a:p>
            <a:fld id="{159423AC-2744-4863-85A2-E06FA088E48C}" type="slidenum">
              <a:rPr lang="ko-KR" altLang="en-US" smtClean="0"/>
              <a:t>‹#›</a:t>
            </a:fld>
            <a:endParaRPr lang="ko-KR" altLang="en-US"/>
          </a:p>
        </p:txBody>
      </p:sp>
    </p:spTree>
    <p:extLst>
      <p:ext uri="{BB962C8B-B14F-4D97-AF65-F5344CB8AC3E}">
        <p14:creationId xmlns:p14="http://schemas.microsoft.com/office/powerpoint/2010/main" val="249909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28B14672-D709-138F-19A4-2108EEE684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E49A757-CA42-053A-67D0-B118EF90AF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53D8CCA-1D4D-C212-C263-E6C4725B4A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241F6C-7A90-4DCA-87CD-58C64F0828AA}" type="datetimeFigureOut">
              <a:rPr lang="ko-KR" altLang="en-US" smtClean="0"/>
              <a:t>2025-02-15</a:t>
            </a:fld>
            <a:endParaRPr lang="ko-KR" altLang="en-US"/>
          </a:p>
        </p:txBody>
      </p:sp>
      <p:sp>
        <p:nvSpPr>
          <p:cNvPr id="5" name="바닥글 개체 틀 4">
            <a:extLst>
              <a:ext uri="{FF2B5EF4-FFF2-40B4-BE49-F238E27FC236}">
                <a16:creationId xmlns:a16="http://schemas.microsoft.com/office/drawing/2014/main" id="{7A863AFD-D8FB-EC0F-136E-249B10028D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76EB81A3-2AF3-142B-25EC-385CF20627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9423AC-2744-4863-85A2-E06FA088E48C}" type="slidenum">
              <a:rPr lang="ko-KR" altLang="en-US" smtClean="0"/>
              <a:t>‹#›</a:t>
            </a:fld>
            <a:endParaRPr lang="ko-KR" altLang="en-US"/>
          </a:p>
        </p:txBody>
      </p:sp>
    </p:spTree>
    <p:extLst>
      <p:ext uri="{BB962C8B-B14F-4D97-AF65-F5344CB8AC3E}">
        <p14:creationId xmlns:p14="http://schemas.microsoft.com/office/powerpoint/2010/main" val="4277490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3.jpe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79083-FFC1-BFCA-9EB0-8E02B79802E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A07959A-362B-AE48-891D-4DCF9093AC8E}"/>
              </a:ext>
            </a:extLst>
          </p:cNvPr>
          <p:cNvSpPr txBox="1"/>
          <p:nvPr/>
        </p:nvSpPr>
        <p:spPr>
          <a:xfrm>
            <a:off x="157018" y="2598003"/>
            <a:ext cx="6742547" cy="830997"/>
          </a:xfrm>
          <a:prstGeom prst="rect">
            <a:avLst/>
          </a:prstGeom>
          <a:noFill/>
        </p:spPr>
        <p:txBody>
          <a:bodyPr wrap="square">
            <a:spAutoFit/>
          </a:bodyPr>
          <a:lstStyle/>
          <a:p>
            <a:pPr latinLnBrk="1">
              <a:spcAft>
                <a:spcPts val="800"/>
              </a:spcAft>
            </a:pPr>
            <a:r>
              <a:rPr lang="en-US" altLang="ko-KR" sz="4800" b="1" kern="100">
                <a:solidFill>
                  <a:srgbClr val="0D0D0D"/>
                </a:solidFill>
                <a:latin typeface="Söhne"/>
                <a:ea typeface="맑은 고딕" panose="020B0503020000020004" pitchFamily="50" charset="-127"/>
                <a:cs typeface="Times New Roman" panose="02020603050405020304" pitchFamily="18" charset="0"/>
              </a:rPr>
              <a:t>Human Heart cell analysis</a:t>
            </a:r>
            <a:endParaRPr lang="ko-KR" altLang="ko-KR" sz="4800" b="1" kern="100">
              <a:solidFill>
                <a:srgbClr val="0D0D0D"/>
              </a:solidFill>
              <a:latin typeface="Söhne"/>
              <a:ea typeface="맑은 고딕" panose="020B0503020000020004" pitchFamily="50" charset="-127"/>
              <a:cs typeface="Times New Roman" panose="02020603050405020304" pitchFamily="18" charset="0"/>
            </a:endParaRPr>
          </a:p>
        </p:txBody>
      </p:sp>
      <p:sp>
        <p:nvSpPr>
          <p:cNvPr id="5" name="TextBox 4">
            <a:extLst>
              <a:ext uri="{FF2B5EF4-FFF2-40B4-BE49-F238E27FC236}">
                <a16:creationId xmlns:a16="http://schemas.microsoft.com/office/drawing/2014/main" id="{F06ED170-0F20-92FF-241F-3A286A928255}"/>
              </a:ext>
            </a:extLst>
          </p:cNvPr>
          <p:cNvSpPr txBox="1"/>
          <p:nvPr/>
        </p:nvSpPr>
        <p:spPr>
          <a:xfrm>
            <a:off x="6179127" y="4858066"/>
            <a:ext cx="5865091" cy="1694695"/>
          </a:xfrm>
          <a:prstGeom prst="rect">
            <a:avLst/>
          </a:prstGeom>
          <a:noFill/>
        </p:spPr>
        <p:txBody>
          <a:bodyPr wrap="square" rtlCol="0">
            <a:spAutoFit/>
          </a:bodyPr>
          <a:lstStyle/>
          <a:p>
            <a:pPr>
              <a:lnSpc>
                <a:spcPct val="150000"/>
              </a:lnSpc>
            </a:pPr>
            <a:r>
              <a:rPr lang="fr-FR" altLang="ko-KR" sz="2400" b="1" kern="100">
                <a:solidFill>
                  <a:srgbClr val="0D0D0D"/>
                </a:solidFill>
                <a:latin typeface="Söhne"/>
                <a:ea typeface="맑은 고딕" panose="020B0503020000020004" pitchFamily="50" charset="-127"/>
                <a:cs typeface="Times New Roman" panose="02020603050405020304" pitchFamily="18" charset="0"/>
              </a:rPr>
              <a:t>Systems Physiology Laboratory (SPL)</a:t>
            </a:r>
          </a:p>
          <a:p>
            <a:pPr>
              <a:lnSpc>
                <a:spcPct val="150000"/>
              </a:lnSpc>
            </a:pPr>
            <a:r>
              <a:rPr lang="fr-FR" altLang="ko-KR" sz="2400" b="1" kern="100">
                <a:solidFill>
                  <a:srgbClr val="0D0D0D"/>
                </a:solidFill>
                <a:latin typeface="Söhne"/>
                <a:ea typeface="맑은 고딕" panose="020B0503020000020004" pitchFamily="50" charset="-127"/>
                <a:cs typeface="Times New Roman" panose="02020603050405020304" pitchFamily="18" charset="0"/>
              </a:rPr>
              <a:t>College of Pharmacy, Chungnam National University (CNU)</a:t>
            </a:r>
            <a:endParaRPr lang="en-US" altLang="ko-KR" sz="2400" b="1" kern="100">
              <a:solidFill>
                <a:srgbClr val="0D0D0D"/>
              </a:solidFill>
              <a:latin typeface="Söhne"/>
              <a:ea typeface="맑은 고딕" panose="020B0503020000020004" pitchFamily="50" charset="-127"/>
              <a:cs typeface="Times New Roman" panose="02020603050405020304" pitchFamily="18" charset="0"/>
            </a:endParaRPr>
          </a:p>
        </p:txBody>
      </p:sp>
      <p:cxnSp>
        <p:nvCxnSpPr>
          <p:cNvPr id="6" name="직선 연결선 5">
            <a:extLst>
              <a:ext uri="{FF2B5EF4-FFF2-40B4-BE49-F238E27FC236}">
                <a16:creationId xmlns:a16="http://schemas.microsoft.com/office/drawing/2014/main" id="{4952AA36-8522-060F-7D17-DF14C27215C3}"/>
              </a:ext>
            </a:extLst>
          </p:cNvPr>
          <p:cNvCxnSpPr>
            <a:cxnSpLocks/>
          </p:cNvCxnSpPr>
          <p:nvPr/>
        </p:nvCxnSpPr>
        <p:spPr>
          <a:xfrm>
            <a:off x="-9237" y="2577870"/>
            <a:ext cx="6908802" cy="0"/>
          </a:xfrm>
          <a:prstGeom prst="line">
            <a:avLst/>
          </a:prstGeom>
          <a:ln w="31750"/>
        </p:spPr>
        <p:style>
          <a:lnRef idx="2">
            <a:schemeClr val="accent1"/>
          </a:lnRef>
          <a:fillRef idx="0">
            <a:schemeClr val="accent1"/>
          </a:fillRef>
          <a:effectRef idx="1">
            <a:schemeClr val="accent1"/>
          </a:effectRef>
          <a:fontRef idx="minor">
            <a:schemeClr val="tx1"/>
          </a:fontRef>
        </p:style>
      </p:cxnSp>
      <p:cxnSp>
        <p:nvCxnSpPr>
          <p:cNvPr id="7" name="직선 연결선 6">
            <a:extLst>
              <a:ext uri="{FF2B5EF4-FFF2-40B4-BE49-F238E27FC236}">
                <a16:creationId xmlns:a16="http://schemas.microsoft.com/office/drawing/2014/main" id="{97CA133A-B637-1937-CB82-4ECA2E9B4DEE}"/>
              </a:ext>
            </a:extLst>
          </p:cNvPr>
          <p:cNvCxnSpPr>
            <a:cxnSpLocks/>
          </p:cNvCxnSpPr>
          <p:nvPr/>
        </p:nvCxnSpPr>
        <p:spPr>
          <a:xfrm>
            <a:off x="6086763" y="4858066"/>
            <a:ext cx="6096000" cy="0"/>
          </a:xfrm>
          <a:prstGeom prst="line">
            <a:avLst/>
          </a:prstGeom>
          <a:ln w="31750"/>
        </p:spPr>
        <p:style>
          <a:lnRef idx="2">
            <a:schemeClr val="accent1"/>
          </a:lnRef>
          <a:fillRef idx="0">
            <a:schemeClr val="accent1"/>
          </a:fillRef>
          <a:effectRef idx="1">
            <a:schemeClr val="accent1"/>
          </a:effectRef>
          <a:fontRef idx="minor">
            <a:schemeClr val="tx1"/>
          </a:fontRef>
        </p:style>
      </p:cxnSp>
      <p:sp>
        <p:nvSpPr>
          <p:cNvPr id="8" name="직사각형 7">
            <a:extLst>
              <a:ext uri="{FF2B5EF4-FFF2-40B4-BE49-F238E27FC236}">
                <a16:creationId xmlns:a16="http://schemas.microsoft.com/office/drawing/2014/main" id="{E3EE4CEA-3FA6-6D63-1A76-412DA17D076B}"/>
              </a:ext>
            </a:extLst>
          </p:cNvPr>
          <p:cNvSpPr/>
          <p:nvPr/>
        </p:nvSpPr>
        <p:spPr>
          <a:xfrm>
            <a:off x="-1" y="0"/>
            <a:ext cx="3269673" cy="9605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2F49B19B-CAB3-2C37-7BEE-478762A2731D}"/>
              </a:ext>
            </a:extLst>
          </p:cNvPr>
          <p:cNvSpPr/>
          <p:nvPr/>
        </p:nvSpPr>
        <p:spPr>
          <a:xfrm>
            <a:off x="2872122" y="480291"/>
            <a:ext cx="1653696" cy="69272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Picture 2" descr="충남대에 대해 알아보자!! : 네이버 블로그">
            <a:extLst>
              <a:ext uri="{FF2B5EF4-FFF2-40B4-BE49-F238E27FC236}">
                <a16:creationId xmlns:a16="http://schemas.microsoft.com/office/drawing/2014/main" id="{09B031C0-1341-E11D-6FE2-5A996AE1BF8F}"/>
              </a:ext>
            </a:extLst>
          </p:cNvPr>
          <p:cNvPicPr>
            <a:picLocks noChangeAspect="1" noChangeArrowheads="1"/>
          </p:cNvPicPr>
          <p:nvPr/>
        </p:nvPicPr>
        <p:blipFill>
          <a:blip r:embed="rId2">
            <a:alphaModFix amt="5000"/>
            <a:extLst>
              <a:ext uri="{28A0092B-C50C-407E-A947-70E740481C1C}">
                <a14:useLocalDpi xmlns:a14="http://schemas.microsoft.com/office/drawing/2010/main" val="0"/>
              </a:ext>
            </a:extLst>
          </a:blip>
          <a:srcRect/>
          <a:stretch>
            <a:fillRect/>
          </a:stretch>
        </p:blipFill>
        <p:spPr bwMode="auto">
          <a:xfrm>
            <a:off x="8417711" y="-1015483"/>
            <a:ext cx="4428572" cy="4254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2733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5529C042-0A8E-EAB3-59A1-9F023C95B536}"/>
              </a:ext>
            </a:extLst>
          </p:cNvPr>
          <p:cNvSpPr/>
          <p:nvPr/>
        </p:nvSpPr>
        <p:spPr>
          <a:xfrm>
            <a:off x="0" y="0"/>
            <a:ext cx="12192000" cy="9448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descr="상징, 로고, 엠블럼, 그래픽이(가) 표시된 사진&#10;&#10;자동 생성된 설명">
            <a:extLst>
              <a:ext uri="{FF2B5EF4-FFF2-40B4-BE49-F238E27FC236}">
                <a16:creationId xmlns:a16="http://schemas.microsoft.com/office/drawing/2014/main" id="{A6276794-C72A-454E-DB54-6B700666BDFA}"/>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21475" b="30976"/>
          <a:stretch/>
        </p:blipFill>
        <p:spPr>
          <a:xfrm>
            <a:off x="10172117" y="0"/>
            <a:ext cx="1985047" cy="944834"/>
          </a:xfrm>
          <a:prstGeom prst="rect">
            <a:avLst/>
          </a:prstGeom>
        </p:spPr>
      </p:pic>
      <p:sp>
        <p:nvSpPr>
          <p:cNvPr id="8" name="TextBox 7">
            <a:extLst>
              <a:ext uri="{FF2B5EF4-FFF2-40B4-BE49-F238E27FC236}">
                <a16:creationId xmlns:a16="http://schemas.microsoft.com/office/drawing/2014/main" id="{E41F8E33-3918-2680-1D03-27945AAD1558}"/>
              </a:ext>
            </a:extLst>
          </p:cNvPr>
          <p:cNvSpPr txBox="1"/>
          <p:nvPr/>
        </p:nvSpPr>
        <p:spPr>
          <a:xfrm>
            <a:off x="129309" y="149251"/>
            <a:ext cx="2351926" cy="646331"/>
          </a:xfrm>
          <a:prstGeom prst="rect">
            <a:avLst/>
          </a:prstGeom>
          <a:noFill/>
        </p:spPr>
        <p:txBody>
          <a:bodyPr wrap="none" rtlCol="0">
            <a:spAutoFit/>
          </a:bodyPr>
          <a:lstStyle/>
          <a:p>
            <a:r>
              <a:rPr lang="en-US" altLang="ko-KR" sz="3600" b="1">
                <a:solidFill>
                  <a:schemeClr val="bg1"/>
                </a:solidFill>
                <a:latin typeface="Raleway" pitchFamily="2" charset="0"/>
              </a:rPr>
              <a:t>Introduce</a:t>
            </a:r>
            <a:endParaRPr lang="ko-KR" altLang="en-US" sz="3600" b="1">
              <a:solidFill>
                <a:schemeClr val="bg1"/>
              </a:solidFill>
              <a:latin typeface="Raleway" pitchFamily="2" charset="0"/>
            </a:endParaRPr>
          </a:p>
        </p:txBody>
      </p:sp>
      <p:pic>
        <p:nvPicPr>
          <p:cNvPr id="10" name="그림 9" descr="사람, 의류, 인간의 얼굴, 넥타이이(가) 표시된 사진&#10;&#10;AI가 생성한 콘텐츠는 부정확할 수 있습니다.">
            <a:extLst>
              <a:ext uri="{FF2B5EF4-FFF2-40B4-BE49-F238E27FC236}">
                <a16:creationId xmlns:a16="http://schemas.microsoft.com/office/drawing/2014/main" id="{6F75F606-8F2D-2776-72E0-24FA44D034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486" y="1671982"/>
            <a:ext cx="3179500" cy="4239333"/>
          </a:xfrm>
          <a:prstGeom prst="rect">
            <a:avLst/>
          </a:prstGeom>
        </p:spPr>
      </p:pic>
      <p:sp>
        <p:nvSpPr>
          <p:cNvPr id="11" name="TextBox 10">
            <a:extLst>
              <a:ext uri="{FF2B5EF4-FFF2-40B4-BE49-F238E27FC236}">
                <a16:creationId xmlns:a16="http://schemas.microsoft.com/office/drawing/2014/main" id="{0A0576F5-46F4-BF2B-FDBE-D025705B7ED4}"/>
              </a:ext>
            </a:extLst>
          </p:cNvPr>
          <p:cNvSpPr txBox="1"/>
          <p:nvPr/>
        </p:nvSpPr>
        <p:spPr>
          <a:xfrm>
            <a:off x="4210398" y="1867731"/>
            <a:ext cx="6954242" cy="3970318"/>
          </a:xfrm>
          <a:prstGeom prst="rect">
            <a:avLst/>
          </a:prstGeom>
          <a:noFill/>
        </p:spPr>
        <p:txBody>
          <a:bodyPr wrap="square" rtlCol="0">
            <a:spAutoFit/>
          </a:bodyPr>
          <a:lstStyle/>
          <a:p>
            <a:pPr marL="285750" indent="-285750">
              <a:buFont typeface="Arial" panose="020B0604020202020204" pitchFamily="34" charset="0"/>
              <a:buChar char="•"/>
            </a:pPr>
            <a:r>
              <a:rPr lang="en-US" altLang="ko-KR">
                <a:latin typeface="Raleway" pitchFamily="2" charset="0"/>
              </a:rPr>
              <a:t>Birth and Education</a:t>
            </a:r>
          </a:p>
          <a:p>
            <a:pPr marL="800100" lvl="1" indent="-342900">
              <a:buFont typeface="+mj-lt"/>
              <a:buAutoNum type="arabicParenR"/>
            </a:pPr>
            <a:r>
              <a:rPr lang="en-US" altLang="ko-KR">
                <a:latin typeface="Raleway" pitchFamily="2" charset="0"/>
              </a:rPr>
              <a:t>Born in Anseong</a:t>
            </a:r>
          </a:p>
          <a:p>
            <a:pPr marL="800100" lvl="1" indent="-342900">
              <a:buFont typeface="+mj-lt"/>
              <a:buAutoNum type="arabicParenR"/>
            </a:pPr>
            <a:r>
              <a:rPr lang="en-US" altLang="ko-KR">
                <a:latin typeface="Raleway" pitchFamily="2" charset="0"/>
              </a:rPr>
              <a:t>Graduated from Chungnam National University, Department of Biology</a:t>
            </a:r>
          </a:p>
          <a:p>
            <a:pPr marL="800100" lvl="1" indent="-342900">
              <a:buFont typeface="+mj-lt"/>
              <a:buAutoNum type="arabicParenR"/>
            </a:pPr>
            <a:r>
              <a:rPr lang="en-US" altLang="ko-KR">
                <a:latin typeface="Raleway" pitchFamily="2" charset="0"/>
              </a:rPr>
              <a:t>Master course of Pharmacy, Chungnam National University</a:t>
            </a:r>
          </a:p>
          <a:p>
            <a:pPr marL="285750" indent="-285750">
              <a:buFont typeface="Arial" panose="020B0604020202020204" pitchFamily="34" charset="0"/>
              <a:buChar char="•"/>
            </a:pPr>
            <a:endParaRPr lang="en-US" altLang="ko-KR">
              <a:latin typeface="Raleway" pitchFamily="2" charset="0"/>
            </a:endParaRPr>
          </a:p>
          <a:p>
            <a:pPr marL="285750" indent="-285750">
              <a:buFont typeface="Arial" panose="020B0604020202020204" pitchFamily="34" charset="0"/>
              <a:buChar char="•"/>
            </a:pPr>
            <a:r>
              <a:rPr lang="en-US" altLang="ko-KR">
                <a:latin typeface="Raleway" pitchFamily="2" charset="0"/>
              </a:rPr>
              <a:t>Main Research</a:t>
            </a:r>
          </a:p>
          <a:p>
            <a:pPr marL="800100" lvl="1" indent="-342900">
              <a:buFont typeface="+mj-lt"/>
              <a:buAutoNum type="arabicParenR"/>
            </a:pPr>
            <a:r>
              <a:rPr lang="en-US" altLang="ko-KR">
                <a:latin typeface="Raleway" pitchFamily="2" charset="0"/>
              </a:rPr>
              <a:t>Mechanistic analysis using natural product and herbal medicine data</a:t>
            </a:r>
          </a:p>
          <a:p>
            <a:pPr marL="800100" lvl="1" indent="-342900">
              <a:buFont typeface="+mj-lt"/>
              <a:buAutoNum type="arabicParenR"/>
            </a:pPr>
            <a:r>
              <a:rPr lang="en-US" altLang="ko-KR">
                <a:latin typeface="Raleway" pitchFamily="2" charset="0"/>
              </a:rPr>
              <a:t>Identifying the potential for convergence between traditional Korean medicine and modern immunotherapy</a:t>
            </a:r>
          </a:p>
          <a:p>
            <a:pPr marL="800100" lvl="1" indent="-342900">
              <a:buFont typeface="+mj-lt"/>
              <a:buAutoNum type="arabicParenR"/>
            </a:pPr>
            <a:r>
              <a:rPr lang="en-US" altLang="ko-KR">
                <a:latin typeface="Raleway" pitchFamily="2" charset="0"/>
              </a:rPr>
              <a:t>Analysing the causes and treatment of heart failure</a:t>
            </a:r>
          </a:p>
        </p:txBody>
      </p:sp>
    </p:spTree>
    <p:extLst>
      <p:ext uri="{BB962C8B-B14F-4D97-AF65-F5344CB8AC3E}">
        <p14:creationId xmlns:p14="http://schemas.microsoft.com/office/powerpoint/2010/main" val="3373058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26A3F-40F0-369F-5D13-BF96F4B74025}"/>
            </a:ext>
          </a:extLst>
        </p:cNvPr>
        <p:cNvGrpSpPr/>
        <p:nvPr/>
      </p:nvGrpSpPr>
      <p:grpSpPr>
        <a:xfrm>
          <a:off x="0" y="0"/>
          <a:ext cx="0" cy="0"/>
          <a:chOff x="0" y="0"/>
          <a:chExt cx="0" cy="0"/>
        </a:xfrm>
      </p:grpSpPr>
      <p:sp>
        <p:nvSpPr>
          <p:cNvPr id="6" name="직사각형 5">
            <a:extLst>
              <a:ext uri="{FF2B5EF4-FFF2-40B4-BE49-F238E27FC236}">
                <a16:creationId xmlns:a16="http://schemas.microsoft.com/office/drawing/2014/main" id="{BF689C94-02EA-AE4D-0493-816914CD8A51}"/>
              </a:ext>
            </a:extLst>
          </p:cNvPr>
          <p:cNvSpPr/>
          <p:nvPr/>
        </p:nvSpPr>
        <p:spPr>
          <a:xfrm>
            <a:off x="0" y="0"/>
            <a:ext cx="12192000" cy="9448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descr="상징, 로고, 엠블럼, 그래픽이(가) 표시된 사진&#10;&#10;자동 생성된 설명">
            <a:extLst>
              <a:ext uri="{FF2B5EF4-FFF2-40B4-BE49-F238E27FC236}">
                <a16:creationId xmlns:a16="http://schemas.microsoft.com/office/drawing/2014/main" id="{9BF86050-A875-6B36-ABD1-A6B5C58E175E}"/>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21475" b="30976"/>
          <a:stretch/>
        </p:blipFill>
        <p:spPr>
          <a:xfrm>
            <a:off x="10172117" y="0"/>
            <a:ext cx="1985047" cy="944834"/>
          </a:xfrm>
          <a:prstGeom prst="rect">
            <a:avLst/>
          </a:prstGeom>
        </p:spPr>
      </p:pic>
      <p:sp>
        <p:nvSpPr>
          <p:cNvPr id="8" name="TextBox 7">
            <a:extLst>
              <a:ext uri="{FF2B5EF4-FFF2-40B4-BE49-F238E27FC236}">
                <a16:creationId xmlns:a16="http://schemas.microsoft.com/office/drawing/2014/main" id="{41DCA14B-726C-E3D4-049F-613619FE7505}"/>
              </a:ext>
            </a:extLst>
          </p:cNvPr>
          <p:cNvSpPr txBox="1"/>
          <p:nvPr/>
        </p:nvSpPr>
        <p:spPr>
          <a:xfrm>
            <a:off x="129309" y="149251"/>
            <a:ext cx="2351926" cy="646331"/>
          </a:xfrm>
          <a:prstGeom prst="rect">
            <a:avLst/>
          </a:prstGeom>
          <a:noFill/>
        </p:spPr>
        <p:txBody>
          <a:bodyPr wrap="none" rtlCol="0">
            <a:spAutoFit/>
          </a:bodyPr>
          <a:lstStyle/>
          <a:p>
            <a:r>
              <a:rPr lang="en-US" altLang="ko-KR" sz="3600" b="1">
                <a:solidFill>
                  <a:schemeClr val="bg1"/>
                </a:solidFill>
                <a:latin typeface="Raleway" pitchFamily="2" charset="0"/>
              </a:rPr>
              <a:t>Introduce</a:t>
            </a:r>
            <a:endParaRPr lang="ko-KR" altLang="en-US" sz="3600" b="1">
              <a:solidFill>
                <a:schemeClr val="bg1"/>
              </a:solidFill>
              <a:latin typeface="Raleway" pitchFamily="2" charset="0"/>
            </a:endParaRPr>
          </a:p>
        </p:txBody>
      </p:sp>
      <p:pic>
        <p:nvPicPr>
          <p:cNvPr id="2" name="그림 1">
            <a:extLst>
              <a:ext uri="{FF2B5EF4-FFF2-40B4-BE49-F238E27FC236}">
                <a16:creationId xmlns:a16="http://schemas.microsoft.com/office/drawing/2014/main" id="{11FD8DEC-F166-E1C9-E145-B8A63BE42DB9}"/>
              </a:ext>
            </a:extLst>
          </p:cNvPr>
          <p:cNvPicPr>
            <a:picLocks noChangeAspect="1"/>
          </p:cNvPicPr>
          <p:nvPr/>
        </p:nvPicPr>
        <p:blipFill>
          <a:blip r:embed="rId3"/>
          <a:stretch>
            <a:fillRect/>
          </a:stretch>
        </p:blipFill>
        <p:spPr>
          <a:xfrm>
            <a:off x="1114615" y="1094085"/>
            <a:ext cx="9962769" cy="5121988"/>
          </a:xfrm>
          <a:prstGeom prst="rect">
            <a:avLst/>
          </a:prstGeom>
        </p:spPr>
      </p:pic>
    </p:spTree>
    <p:extLst>
      <p:ext uri="{BB962C8B-B14F-4D97-AF65-F5344CB8AC3E}">
        <p14:creationId xmlns:p14="http://schemas.microsoft.com/office/powerpoint/2010/main" val="665348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9F297-30A8-355D-85AA-E756EB372F8D}"/>
            </a:ext>
          </a:extLst>
        </p:cNvPr>
        <p:cNvGrpSpPr/>
        <p:nvPr/>
      </p:nvGrpSpPr>
      <p:grpSpPr>
        <a:xfrm>
          <a:off x="0" y="0"/>
          <a:ext cx="0" cy="0"/>
          <a:chOff x="0" y="0"/>
          <a:chExt cx="0" cy="0"/>
        </a:xfrm>
      </p:grpSpPr>
      <p:sp>
        <p:nvSpPr>
          <p:cNvPr id="26" name="직사각형 25">
            <a:extLst>
              <a:ext uri="{FF2B5EF4-FFF2-40B4-BE49-F238E27FC236}">
                <a16:creationId xmlns:a16="http://schemas.microsoft.com/office/drawing/2014/main" id="{461B0980-0F46-CE64-56E3-FCA116E6975F}"/>
              </a:ext>
            </a:extLst>
          </p:cNvPr>
          <p:cNvSpPr/>
          <p:nvPr/>
        </p:nvSpPr>
        <p:spPr>
          <a:xfrm>
            <a:off x="887252" y="4982322"/>
            <a:ext cx="10277388" cy="1665694"/>
          </a:xfrm>
          <a:prstGeom prst="rect">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0524B7A9-895A-210B-69CA-12F57EAB82BC}"/>
              </a:ext>
            </a:extLst>
          </p:cNvPr>
          <p:cNvSpPr/>
          <p:nvPr/>
        </p:nvSpPr>
        <p:spPr>
          <a:xfrm>
            <a:off x="0" y="0"/>
            <a:ext cx="12192000" cy="9448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descr="상징, 로고, 엠블럼, 그래픽이(가) 표시된 사진&#10;&#10;자동 생성된 설명">
            <a:extLst>
              <a:ext uri="{FF2B5EF4-FFF2-40B4-BE49-F238E27FC236}">
                <a16:creationId xmlns:a16="http://schemas.microsoft.com/office/drawing/2014/main" id="{4559C3FD-6964-9D76-3EB4-5BCC7D50567B}"/>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t="21475" b="30976"/>
          <a:stretch/>
        </p:blipFill>
        <p:spPr>
          <a:xfrm>
            <a:off x="10172117" y="0"/>
            <a:ext cx="1985047" cy="944834"/>
          </a:xfrm>
          <a:prstGeom prst="rect">
            <a:avLst/>
          </a:prstGeom>
        </p:spPr>
      </p:pic>
      <p:sp>
        <p:nvSpPr>
          <p:cNvPr id="8" name="TextBox 7">
            <a:extLst>
              <a:ext uri="{FF2B5EF4-FFF2-40B4-BE49-F238E27FC236}">
                <a16:creationId xmlns:a16="http://schemas.microsoft.com/office/drawing/2014/main" id="{A6877FA6-BC14-67FC-FD7D-8AD76692CF78}"/>
              </a:ext>
            </a:extLst>
          </p:cNvPr>
          <p:cNvSpPr txBox="1"/>
          <p:nvPr/>
        </p:nvSpPr>
        <p:spPr>
          <a:xfrm>
            <a:off x="129309" y="149251"/>
            <a:ext cx="2351926" cy="646331"/>
          </a:xfrm>
          <a:prstGeom prst="rect">
            <a:avLst/>
          </a:prstGeom>
          <a:noFill/>
        </p:spPr>
        <p:txBody>
          <a:bodyPr wrap="none" rtlCol="0">
            <a:spAutoFit/>
          </a:bodyPr>
          <a:lstStyle/>
          <a:p>
            <a:r>
              <a:rPr lang="en-US" altLang="ko-KR" sz="3600" b="1">
                <a:solidFill>
                  <a:schemeClr val="bg1"/>
                </a:solidFill>
                <a:latin typeface="Raleway" pitchFamily="2" charset="0"/>
              </a:rPr>
              <a:t>Introduce</a:t>
            </a:r>
            <a:endParaRPr lang="ko-KR" altLang="en-US" sz="3600" b="1">
              <a:solidFill>
                <a:schemeClr val="bg1"/>
              </a:solidFill>
              <a:latin typeface="Raleway" pitchFamily="2" charset="0"/>
            </a:endParaRPr>
          </a:p>
        </p:txBody>
      </p:sp>
      <p:pic>
        <p:nvPicPr>
          <p:cNvPr id="2050" name="Picture 2" descr="Heart failure management: Updated guidelines - American Nurse">
            <a:extLst>
              <a:ext uri="{FF2B5EF4-FFF2-40B4-BE49-F238E27FC236}">
                <a16:creationId xmlns:a16="http://schemas.microsoft.com/office/drawing/2014/main" id="{2AC447C4-75E9-2B99-7093-81EE2C3F4F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5525" y="1465614"/>
            <a:ext cx="3321899" cy="332189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심부전학회 &quot;고령화로 증가하는 심부전, '전문진료질병군'으로 상향해야&quot; &lt; 의약계·병원 &lt; 기사본문 - 라포르시안">
            <a:extLst>
              <a:ext uri="{FF2B5EF4-FFF2-40B4-BE49-F238E27FC236}">
                <a16:creationId xmlns:a16="http://schemas.microsoft.com/office/drawing/2014/main" id="{CC5A63D8-C258-6822-0DD7-4EC0C884EF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6463" y="1442949"/>
            <a:ext cx="4991887" cy="334456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AD5E82A1-6058-BD50-D3AF-BAAAFD924F9A}"/>
              </a:ext>
            </a:extLst>
          </p:cNvPr>
          <p:cNvSpPr txBox="1"/>
          <p:nvPr/>
        </p:nvSpPr>
        <p:spPr>
          <a:xfrm>
            <a:off x="5294863" y="1042831"/>
            <a:ext cx="5582226" cy="369332"/>
          </a:xfrm>
          <a:prstGeom prst="rect">
            <a:avLst/>
          </a:prstGeom>
          <a:noFill/>
        </p:spPr>
        <p:txBody>
          <a:bodyPr wrap="square">
            <a:spAutoFit/>
          </a:bodyPr>
          <a:lstStyle/>
          <a:p>
            <a:r>
              <a:rPr lang="en-US" altLang="ko-KR" b="0" i="0">
                <a:solidFill>
                  <a:srgbClr val="1E1E1E"/>
                </a:solidFill>
                <a:effectLst/>
                <a:latin typeface="Apple SD Gothic Neo"/>
              </a:rPr>
              <a:t>Changes in the prevalence of heart failure by age in Korea</a:t>
            </a:r>
            <a:endParaRPr lang="ko-KR" altLang="en-US"/>
          </a:p>
        </p:txBody>
      </p:sp>
      <p:sp>
        <p:nvSpPr>
          <p:cNvPr id="15" name="TextBox 14">
            <a:extLst>
              <a:ext uri="{FF2B5EF4-FFF2-40B4-BE49-F238E27FC236}">
                <a16:creationId xmlns:a16="http://schemas.microsoft.com/office/drawing/2014/main" id="{4856ECD5-E201-82EA-7748-AD7F65F9A5BD}"/>
              </a:ext>
            </a:extLst>
          </p:cNvPr>
          <p:cNvSpPr txBox="1"/>
          <p:nvPr/>
        </p:nvSpPr>
        <p:spPr>
          <a:xfrm>
            <a:off x="2025735" y="1042831"/>
            <a:ext cx="1401501" cy="369332"/>
          </a:xfrm>
          <a:prstGeom prst="rect">
            <a:avLst/>
          </a:prstGeom>
          <a:noFill/>
        </p:spPr>
        <p:txBody>
          <a:bodyPr wrap="square">
            <a:spAutoFit/>
          </a:bodyPr>
          <a:lstStyle/>
          <a:p>
            <a:pPr algn="ctr"/>
            <a:r>
              <a:rPr lang="en-US" altLang="ko-KR" b="0" i="0">
                <a:solidFill>
                  <a:srgbClr val="1E1E1E"/>
                </a:solidFill>
                <a:effectLst/>
                <a:latin typeface="Apple SD Gothic Neo"/>
              </a:rPr>
              <a:t>Heart failure</a:t>
            </a:r>
            <a:endParaRPr lang="ko-KR" altLang="en-US"/>
          </a:p>
        </p:txBody>
      </p:sp>
      <p:grpSp>
        <p:nvGrpSpPr>
          <p:cNvPr id="24" name="그룹 23">
            <a:extLst>
              <a:ext uri="{FF2B5EF4-FFF2-40B4-BE49-F238E27FC236}">
                <a16:creationId xmlns:a16="http://schemas.microsoft.com/office/drawing/2014/main" id="{AF85F7C3-F093-B9E5-9A35-559C225E213B}"/>
              </a:ext>
            </a:extLst>
          </p:cNvPr>
          <p:cNvGrpSpPr/>
          <p:nvPr/>
        </p:nvGrpSpPr>
        <p:grpSpPr>
          <a:xfrm>
            <a:off x="679503" y="5186716"/>
            <a:ext cx="771495" cy="369332"/>
            <a:chOff x="533857" y="5912467"/>
            <a:chExt cx="771495" cy="369332"/>
          </a:xfrm>
        </p:grpSpPr>
        <p:sp>
          <p:nvSpPr>
            <p:cNvPr id="16" name="직사각형 15">
              <a:extLst>
                <a:ext uri="{FF2B5EF4-FFF2-40B4-BE49-F238E27FC236}">
                  <a16:creationId xmlns:a16="http://schemas.microsoft.com/office/drawing/2014/main" id="{893AF1EE-3D94-C5A0-89D3-4A26BE811DF7}"/>
                </a:ext>
              </a:extLst>
            </p:cNvPr>
            <p:cNvSpPr/>
            <p:nvPr/>
          </p:nvSpPr>
          <p:spPr>
            <a:xfrm>
              <a:off x="561606" y="5921799"/>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연결선 16">
              <a:extLst>
                <a:ext uri="{FF2B5EF4-FFF2-40B4-BE49-F238E27FC236}">
                  <a16:creationId xmlns:a16="http://schemas.microsoft.com/office/drawing/2014/main" id="{8BD8A43E-4C82-07FE-8ACD-5C94E856760A}"/>
                </a:ext>
              </a:extLst>
            </p:cNvPr>
            <p:cNvCxnSpPr>
              <a:stCxn id="16" idx="3"/>
            </p:cNvCxnSpPr>
            <p:nvPr/>
          </p:nvCxnSpPr>
          <p:spPr>
            <a:xfrm>
              <a:off x="921606" y="6101799"/>
              <a:ext cx="383746" cy="0"/>
            </a:xfrm>
            <a:prstGeom prst="line">
              <a:avLst/>
            </a:prstGeom>
            <a:ln w="28575"/>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7AAADFD4-7FA8-BE60-1B54-A572A63E65B1}"/>
                </a:ext>
              </a:extLst>
            </p:cNvPr>
            <p:cNvSpPr txBox="1"/>
            <p:nvPr/>
          </p:nvSpPr>
          <p:spPr>
            <a:xfrm>
              <a:off x="533857" y="5912467"/>
              <a:ext cx="415498" cy="369332"/>
            </a:xfrm>
            <a:prstGeom prst="rect">
              <a:avLst/>
            </a:prstGeom>
            <a:noFill/>
          </p:spPr>
          <p:txBody>
            <a:bodyPr wrap="none" rtlCol="0">
              <a:spAutoFit/>
            </a:bodyPr>
            <a:lstStyle/>
            <a:p>
              <a:r>
                <a:rPr lang="ko-KR" altLang="en-US" b="1">
                  <a:solidFill>
                    <a:schemeClr val="bg1"/>
                  </a:solidFill>
                </a:rPr>
                <a:t>１</a:t>
              </a:r>
            </a:p>
          </p:txBody>
        </p:sp>
      </p:grpSp>
      <p:sp>
        <p:nvSpPr>
          <p:cNvPr id="20" name="TextBox 19">
            <a:extLst>
              <a:ext uri="{FF2B5EF4-FFF2-40B4-BE49-F238E27FC236}">
                <a16:creationId xmlns:a16="http://schemas.microsoft.com/office/drawing/2014/main" id="{F6E38ACC-C21E-FD27-79D0-CCBBB41CA67D}"/>
              </a:ext>
            </a:extLst>
          </p:cNvPr>
          <p:cNvSpPr txBox="1"/>
          <p:nvPr/>
        </p:nvSpPr>
        <p:spPr>
          <a:xfrm>
            <a:off x="1491021" y="5065326"/>
            <a:ext cx="9408910" cy="646331"/>
          </a:xfrm>
          <a:prstGeom prst="rect">
            <a:avLst/>
          </a:prstGeom>
          <a:noFill/>
        </p:spPr>
        <p:txBody>
          <a:bodyPr wrap="square">
            <a:spAutoFit/>
          </a:bodyPr>
          <a:lstStyle/>
          <a:p>
            <a:r>
              <a:rPr lang="en-US" altLang="ko-KR">
                <a:latin typeface="Raleway" pitchFamily="2" charset="0"/>
              </a:rPr>
              <a:t>Heart failure has a poor prognosis, with a nearly 50% mortality rate within five years of diagnosis. </a:t>
            </a:r>
          </a:p>
        </p:txBody>
      </p:sp>
      <p:grpSp>
        <p:nvGrpSpPr>
          <p:cNvPr id="25" name="그룹 24">
            <a:extLst>
              <a:ext uri="{FF2B5EF4-FFF2-40B4-BE49-F238E27FC236}">
                <a16:creationId xmlns:a16="http://schemas.microsoft.com/office/drawing/2014/main" id="{F7256BA7-8EDB-40DE-9F67-C01C69C6625A}"/>
              </a:ext>
            </a:extLst>
          </p:cNvPr>
          <p:cNvGrpSpPr/>
          <p:nvPr/>
        </p:nvGrpSpPr>
        <p:grpSpPr>
          <a:xfrm>
            <a:off x="679503" y="5946175"/>
            <a:ext cx="771495" cy="369332"/>
            <a:chOff x="506108" y="6339417"/>
            <a:chExt cx="771495" cy="369332"/>
          </a:xfrm>
        </p:grpSpPr>
        <p:sp>
          <p:nvSpPr>
            <p:cNvPr id="21" name="직사각형 20">
              <a:extLst>
                <a:ext uri="{FF2B5EF4-FFF2-40B4-BE49-F238E27FC236}">
                  <a16:creationId xmlns:a16="http://schemas.microsoft.com/office/drawing/2014/main" id="{E433B4A1-86CF-D897-BAD8-EDF1ACC05D4E}"/>
                </a:ext>
              </a:extLst>
            </p:cNvPr>
            <p:cNvSpPr/>
            <p:nvPr/>
          </p:nvSpPr>
          <p:spPr>
            <a:xfrm>
              <a:off x="533857" y="6348749"/>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직선 연결선 21">
              <a:extLst>
                <a:ext uri="{FF2B5EF4-FFF2-40B4-BE49-F238E27FC236}">
                  <a16:creationId xmlns:a16="http://schemas.microsoft.com/office/drawing/2014/main" id="{D753E70F-8021-FF69-4E84-D9F298A3FC55}"/>
                </a:ext>
              </a:extLst>
            </p:cNvPr>
            <p:cNvCxnSpPr>
              <a:cxnSpLocks/>
              <a:stCxn id="21" idx="3"/>
            </p:cNvCxnSpPr>
            <p:nvPr/>
          </p:nvCxnSpPr>
          <p:spPr>
            <a:xfrm>
              <a:off x="893857" y="6528749"/>
              <a:ext cx="383746" cy="0"/>
            </a:xfrm>
            <a:prstGeom prst="line">
              <a:avLst/>
            </a:prstGeom>
            <a:ln w="28575"/>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3077E5F3-6A96-185F-8285-523308B32BAF}"/>
                </a:ext>
              </a:extLst>
            </p:cNvPr>
            <p:cNvSpPr txBox="1"/>
            <p:nvPr/>
          </p:nvSpPr>
          <p:spPr>
            <a:xfrm>
              <a:off x="506108" y="6339417"/>
              <a:ext cx="415498" cy="369332"/>
            </a:xfrm>
            <a:prstGeom prst="rect">
              <a:avLst/>
            </a:prstGeom>
            <a:noFill/>
          </p:spPr>
          <p:txBody>
            <a:bodyPr wrap="none" rtlCol="0">
              <a:spAutoFit/>
            </a:bodyPr>
            <a:lstStyle/>
            <a:p>
              <a:r>
                <a:rPr lang="ko-KR" altLang="en-US" b="1">
                  <a:solidFill>
                    <a:schemeClr val="bg1"/>
                  </a:solidFill>
                </a:rPr>
                <a:t>２</a:t>
              </a:r>
            </a:p>
          </p:txBody>
        </p:sp>
      </p:grpSp>
      <p:sp>
        <p:nvSpPr>
          <p:cNvPr id="28" name="TextBox 27">
            <a:extLst>
              <a:ext uri="{FF2B5EF4-FFF2-40B4-BE49-F238E27FC236}">
                <a16:creationId xmlns:a16="http://schemas.microsoft.com/office/drawing/2014/main" id="{27B5206B-E93F-02BD-3213-11437C6FB2DB}"/>
              </a:ext>
            </a:extLst>
          </p:cNvPr>
          <p:cNvSpPr txBox="1"/>
          <p:nvPr/>
        </p:nvSpPr>
        <p:spPr>
          <a:xfrm>
            <a:off x="1491021" y="5711657"/>
            <a:ext cx="9616659" cy="923330"/>
          </a:xfrm>
          <a:prstGeom prst="rect">
            <a:avLst/>
          </a:prstGeom>
          <a:noFill/>
        </p:spPr>
        <p:txBody>
          <a:bodyPr wrap="square">
            <a:spAutoFit/>
          </a:bodyPr>
          <a:lstStyle/>
          <a:p>
            <a:r>
              <a:rPr lang="en-US" altLang="ko-KR">
                <a:latin typeface="Raleway" pitchFamily="2" charset="0"/>
              </a:rPr>
              <a:t>However, many patients do not recognize its severity, often mistaking key symptoms for normal aging, which delays treatment. Early diagnosis and proper management are essential to improving outcomes.</a:t>
            </a:r>
            <a:endParaRPr lang="ko-KR" altLang="en-US">
              <a:latin typeface="Raleway" pitchFamily="2" charset="0"/>
            </a:endParaRPr>
          </a:p>
        </p:txBody>
      </p:sp>
    </p:spTree>
    <p:extLst>
      <p:ext uri="{BB962C8B-B14F-4D97-AF65-F5344CB8AC3E}">
        <p14:creationId xmlns:p14="http://schemas.microsoft.com/office/powerpoint/2010/main" val="2194353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C3579-0B5E-88CD-3123-BA38D0A92CC1}"/>
            </a:ext>
          </a:extLst>
        </p:cNvPr>
        <p:cNvGrpSpPr/>
        <p:nvPr/>
      </p:nvGrpSpPr>
      <p:grpSpPr>
        <a:xfrm>
          <a:off x="0" y="0"/>
          <a:ext cx="0" cy="0"/>
          <a:chOff x="0" y="0"/>
          <a:chExt cx="0" cy="0"/>
        </a:xfrm>
      </p:grpSpPr>
      <p:sp>
        <p:nvSpPr>
          <p:cNvPr id="6" name="직사각형 5">
            <a:extLst>
              <a:ext uri="{FF2B5EF4-FFF2-40B4-BE49-F238E27FC236}">
                <a16:creationId xmlns:a16="http://schemas.microsoft.com/office/drawing/2014/main" id="{2DBB512C-3B6D-C1A3-BFC3-467CFD1DA893}"/>
              </a:ext>
            </a:extLst>
          </p:cNvPr>
          <p:cNvSpPr/>
          <p:nvPr/>
        </p:nvSpPr>
        <p:spPr>
          <a:xfrm>
            <a:off x="0" y="0"/>
            <a:ext cx="12192000" cy="9448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descr="상징, 로고, 엠블럼, 그래픽이(가) 표시된 사진&#10;&#10;자동 생성된 설명">
            <a:extLst>
              <a:ext uri="{FF2B5EF4-FFF2-40B4-BE49-F238E27FC236}">
                <a16:creationId xmlns:a16="http://schemas.microsoft.com/office/drawing/2014/main" id="{FF43AC8E-636A-0527-6CFD-BBD5BC360035}"/>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21475" b="30976"/>
          <a:stretch/>
        </p:blipFill>
        <p:spPr>
          <a:xfrm>
            <a:off x="10172117" y="0"/>
            <a:ext cx="1985047" cy="944834"/>
          </a:xfrm>
          <a:prstGeom prst="rect">
            <a:avLst/>
          </a:prstGeom>
        </p:spPr>
      </p:pic>
      <p:pic>
        <p:nvPicPr>
          <p:cNvPr id="2" name="Picture 2">
            <a:extLst>
              <a:ext uri="{FF2B5EF4-FFF2-40B4-BE49-F238E27FC236}">
                <a16:creationId xmlns:a16="http://schemas.microsoft.com/office/drawing/2014/main" id="{3BBEB200-D5E9-E839-A4EE-0AA94C8912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632" y="1076897"/>
            <a:ext cx="7599768" cy="2613410"/>
          </a:xfrm>
          <a:prstGeom prst="rect">
            <a:avLst/>
          </a:prstGeom>
          <a:noFill/>
          <a:extLst>
            <a:ext uri="{909E8E84-426E-40DD-AFC4-6F175D3DCCD1}">
              <a14:hiddenFill xmlns:a14="http://schemas.microsoft.com/office/drawing/2010/main">
                <a:solidFill>
                  <a:srgbClr val="FFFFFF"/>
                </a:solidFill>
              </a14:hiddenFill>
            </a:ext>
          </a:extLst>
        </p:spPr>
      </p:pic>
      <p:pic>
        <p:nvPicPr>
          <p:cNvPr id="3" name="그림 2">
            <a:extLst>
              <a:ext uri="{FF2B5EF4-FFF2-40B4-BE49-F238E27FC236}">
                <a16:creationId xmlns:a16="http://schemas.microsoft.com/office/drawing/2014/main" id="{A2721E0A-79F0-E1BF-5E3F-B89B8C352CFF}"/>
              </a:ext>
            </a:extLst>
          </p:cNvPr>
          <p:cNvPicPr>
            <a:picLocks noChangeAspect="1"/>
          </p:cNvPicPr>
          <p:nvPr/>
        </p:nvPicPr>
        <p:blipFill>
          <a:blip r:embed="rId4"/>
          <a:stretch>
            <a:fillRect/>
          </a:stretch>
        </p:blipFill>
        <p:spPr>
          <a:xfrm>
            <a:off x="7906352" y="1076897"/>
            <a:ext cx="4113016" cy="2688114"/>
          </a:xfrm>
          <a:prstGeom prst="rect">
            <a:avLst/>
          </a:prstGeom>
        </p:spPr>
      </p:pic>
      <p:sp>
        <p:nvSpPr>
          <p:cNvPr id="9" name="TextBox 8">
            <a:extLst>
              <a:ext uri="{FF2B5EF4-FFF2-40B4-BE49-F238E27FC236}">
                <a16:creationId xmlns:a16="http://schemas.microsoft.com/office/drawing/2014/main" id="{D17EBA7D-2C8B-2A7F-DA39-9C5225F02305}"/>
              </a:ext>
            </a:extLst>
          </p:cNvPr>
          <p:cNvSpPr txBox="1"/>
          <p:nvPr/>
        </p:nvSpPr>
        <p:spPr>
          <a:xfrm>
            <a:off x="1242079" y="4965025"/>
            <a:ext cx="10665070" cy="1477328"/>
          </a:xfrm>
          <a:prstGeom prst="rect">
            <a:avLst/>
          </a:prstGeom>
          <a:noFill/>
        </p:spPr>
        <p:txBody>
          <a:bodyPr wrap="square" rtlCol="0">
            <a:spAutoFit/>
          </a:bodyPr>
          <a:lstStyle/>
          <a:p>
            <a:r>
              <a:rPr lang="en-US" altLang="ko-KR">
                <a:latin typeface="Raleway" pitchFamily="2" charset="0"/>
              </a:rPr>
              <a:t>Using single cell technologies, we profiled the transcriptome of 486,134 cells and nuclei from six anatomical cardiac regions. </a:t>
            </a:r>
          </a:p>
          <a:p>
            <a:endParaRPr lang="en-US" altLang="ko-KR">
              <a:latin typeface="Raleway" pitchFamily="2" charset="0"/>
            </a:endParaRPr>
          </a:p>
          <a:p>
            <a:r>
              <a:rPr lang="en-US" altLang="ko-KR">
                <a:latin typeface="Raleway" pitchFamily="2" charset="0"/>
              </a:rPr>
              <a:t>They collected healthy hearts from 14 adult donors, seven male and seven female, within the age range of 40 - 75 years. The hearts were collected in North America and the United Kingdom.</a:t>
            </a:r>
            <a:endParaRPr lang="ko-KR" altLang="en-US">
              <a:latin typeface="Raleway" pitchFamily="2" charset="0"/>
            </a:endParaRPr>
          </a:p>
        </p:txBody>
      </p:sp>
      <p:sp>
        <p:nvSpPr>
          <p:cNvPr id="10" name="직사각형 9">
            <a:extLst>
              <a:ext uri="{FF2B5EF4-FFF2-40B4-BE49-F238E27FC236}">
                <a16:creationId xmlns:a16="http://schemas.microsoft.com/office/drawing/2014/main" id="{E7BB5946-4A04-0C2E-81B0-42A619BB239C}"/>
              </a:ext>
            </a:extLst>
          </p:cNvPr>
          <p:cNvSpPr/>
          <p:nvPr/>
        </p:nvSpPr>
        <p:spPr>
          <a:xfrm>
            <a:off x="540776" y="4862220"/>
            <a:ext cx="11478592" cy="1837766"/>
          </a:xfrm>
          <a:prstGeom prst="rect">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4DE258EE-581D-D3B8-DBF1-36F094C7BF3E}"/>
              </a:ext>
            </a:extLst>
          </p:cNvPr>
          <p:cNvSpPr/>
          <p:nvPr/>
        </p:nvSpPr>
        <p:spPr>
          <a:xfrm>
            <a:off x="386115" y="5164417"/>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7AEF5B8-948E-EF8E-BDCA-EC78B2438D1E}"/>
              </a:ext>
            </a:extLst>
          </p:cNvPr>
          <p:cNvSpPr/>
          <p:nvPr/>
        </p:nvSpPr>
        <p:spPr>
          <a:xfrm>
            <a:off x="386245" y="6025179"/>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3" name="직선 연결선 12">
            <a:extLst>
              <a:ext uri="{FF2B5EF4-FFF2-40B4-BE49-F238E27FC236}">
                <a16:creationId xmlns:a16="http://schemas.microsoft.com/office/drawing/2014/main" id="{91DE495B-4EA7-E50C-2F14-22ED2147312A}"/>
              </a:ext>
            </a:extLst>
          </p:cNvPr>
          <p:cNvCxnSpPr>
            <a:stCxn id="11" idx="3"/>
          </p:cNvCxnSpPr>
          <p:nvPr/>
        </p:nvCxnSpPr>
        <p:spPr>
          <a:xfrm>
            <a:off x="746115" y="5344417"/>
            <a:ext cx="383746"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14" name="직선 연결선 13">
            <a:extLst>
              <a:ext uri="{FF2B5EF4-FFF2-40B4-BE49-F238E27FC236}">
                <a16:creationId xmlns:a16="http://schemas.microsoft.com/office/drawing/2014/main" id="{E24D0270-8554-8AEC-33A8-7ACFA75E9F21}"/>
              </a:ext>
            </a:extLst>
          </p:cNvPr>
          <p:cNvCxnSpPr>
            <a:cxnSpLocks/>
            <a:stCxn id="12" idx="3"/>
          </p:cNvCxnSpPr>
          <p:nvPr/>
        </p:nvCxnSpPr>
        <p:spPr>
          <a:xfrm>
            <a:off x="746245" y="6205179"/>
            <a:ext cx="383746" cy="0"/>
          </a:xfrm>
          <a:prstGeom prst="line">
            <a:avLst/>
          </a:prstGeom>
          <a:ln w="28575"/>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D6C2D910-2AF9-EA63-1A8E-FDC175BD6B71}"/>
              </a:ext>
            </a:extLst>
          </p:cNvPr>
          <p:cNvSpPr txBox="1"/>
          <p:nvPr/>
        </p:nvSpPr>
        <p:spPr>
          <a:xfrm>
            <a:off x="358366" y="5155085"/>
            <a:ext cx="415498" cy="369332"/>
          </a:xfrm>
          <a:prstGeom prst="rect">
            <a:avLst/>
          </a:prstGeom>
          <a:noFill/>
        </p:spPr>
        <p:txBody>
          <a:bodyPr wrap="none" rtlCol="0">
            <a:spAutoFit/>
          </a:bodyPr>
          <a:lstStyle/>
          <a:p>
            <a:r>
              <a:rPr lang="ko-KR" altLang="en-US" b="1">
                <a:solidFill>
                  <a:schemeClr val="bg1"/>
                </a:solidFill>
              </a:rPr>
              <a:t>１</a:t>
            </a:r>
          </a:p>
        </p:txBody>
      </p:sp>
      <p:sp>
        <p:nvSpPr>
          <p:cNvPr id="16" name="TextBox 15">
            <a:extLst>
              <a:ext uri="{FF2B5EF4-FFF2-40B4-BE49-F238E27FC236}">
                <a16:creationId xmlns:a16="http://schemas.microsoft.com/office/drawing/2014/main" id="{86423CDC-3DA5-0C27-39CD-1C5E08DF4733}"/>
              </a:ext>
            </a:extLst>
          </p:cNvPr>
          <p:cNvSpPr txBox="1"/>
          <p:nvPr/>
        </p:nvSpPr>
        <p:spPr>
          <a:xfrm>
            <a:off x="358496" y="6015847"/>
            <a:ext cx="415498" cy="369332"/>
          </a:xfrm>
          <a:prstGeom prst="rect">
            <a:avLst/>
          </a:prstGeom>
          <a:noFill/>
        </p:spPr>
        <p:txBody>
          <a:bodyPr wrap="none" rtlCol="0">
            <a:spAutoFit/>
          </a:bodyPr>
          <a:lstStyle/>
          <a:p>
            <a:r>
              <a:rPr lang="ko-KR" altLang="en-US" b="1">
                <a:solidFill>
                  <a:schemeClr val="bg1"/>
                </a:solidFill>
              </a:rPr>
              <a:t>２</a:t>
            </a:r>
          </a:p>
        </p:txBody>
      </p:sp>
      <p:pic>
        <p:nvPicPr>
          <p:cNvPr id="17" name="Picture 4">
            <a:extLst>
              <a:ext uri="{FF2B5EF4-FFF2-40B4-BE49-F238E27FC236}">
                <a16:creationId xmlns:a16="http://schemas.microsoft.com/office/drawing/2014/main" id="{7348CA9E-1EF6-1848-DC6D-1720F05162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366" y="2715699"/>
            <a:ext cx="4493291" cy="190087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354FD58-5FC3-7CD1-C7DE-8118824BF524}"/>
              </a:ext>
            </a:extLst>
          </p:cNvPr>
          <p:cNvSpPr txBox="1"/>
          <p:nvPr/>
        </p:nvSpPr>
        <p:spPr>
          <a:xfrm>
            <a:off x="172632" y="122919"/>
            <a:ext cx="4148893" cy="646331"/>
          </a:xfrm>
          <a:prstGeom prst="rect">
            <a:avLst/>
          </a:prstGeom>
          <a:noFill/>
        </p:spPr>
        <p:txBody>
          <a:bodyPr wrap="none" rtlCol="0">
            <a:spAutoFit/>
          </a:bodyPr>
          <a:lstStyle/>
          <a:p>
            <a:r>
              <a:rPr lang="en-US" altLang="ko-KR" sz="3600" b="1">
                <a:solidFill>
                  <a:schemeClr val="bg1"/>
                </a:solidFill>
                <a:latin typeface="Raleway" pitchFamily="2" charset="0"/>
              </a:rPr>
              <a:t>Heart cell atlas v1</a:t>
            </a:r>
            <a:endParaRPr lang="ko-KR" altLang="en-US" sz="3600" b="1">
              <a:solidFill>
                <a:schemeClr val="bg1"/>
              </a:solidFill>
              <a:latin typeface="Raleway" pitchFamily="2" charset="0"/>
            </a:endParaRPr>
          </a:p>
        </p:txBody>
      </p:sp>
    </p:spTree>
    <p:extLst>
      <p:ext uri="{BB962C8B-B14F-4D97-AF65-F5344CB8AC3E}">
        <p14:creationId xmlns:p14="http://schemas.microsoft.com/office/powerpoint/2010/main" val="3978074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2BA8F-469F-51C7-2AFB-AD181A76F030}"/>
            </a:ext>
          </a:extLst>
        </p:cNvPr>
        <p:cNvGrpSpPr/>
        <p:nvPr/>
      </p:nvGrpSpPr>
      <p:grpSpPr>
        <a:xfrm>
          <a:off x="0" y="0"/>
          <a:ext cx="0" cy="0"/>
          <a:chOff x="0" y="0"/>
          <a:chExt cx="0" cy="0"/>
        </a:xfrm>
      </p:grpSpPr>
      <p:sp>
        <p:nvSpPr>
          <p:cNvPr id="6" name="직사각형 5">
            <a:extLst>
              <a:ext uri="{FF2B5EF4-FFF2-40B4-BE49-F238E27FC236}">
                <a16:creationId xmlns:a16="http://schemas.microsoft.com/office/drawing/2014/main" id="{4F4DF0C4-4C0A-41FC-E0C5-3AEFA3E3540A}"/>
              </a:ext>
            </a:extLst>
          </p:cNvPr>
          <p:cNvSpPr/>
          <p:nvPr/>
        </p:nvSpPr>
        <p:spPr>
          <a:xfrm>
            <a:off x="0" y="0"/>
            <a:ext cx="12192000" cy="9448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descr="상징, 로고, 엠블럼, 그래픽이(가) 표시된 사진&#10;&#10;자동 생성된 설명">
            <a:extLst>
              <a:ext uri="{FF2B5EF4-FFF2-40B4-BE49-F238E27FC236}">
                <a16:creationId xmlns:a16="http://schemas.microsoft.com/office/drawing/2014/main" id="{46B960D2-44CC-93CD-A8F7-3663BC178D0C}"/>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21475" b="30976"/>
          <a:stretch/>
        </p:blipFill>
        <p:spPr>
          <a:xfrm>
            <a:off x="10172117" y="0"/>
            <a:ext cx="1985047" cy="944834"/>
          </a:xfrm>
          <a:prstGeom prst="rect">
            <a:avLst/>
          </a:prstGeom>
        </p:spPr>
      </p:pic>
      <p:pic>
        <p:nvPicPr>
          <p:cNvPr id="3" name="그림 2">
            <a:extLst>
              <a:ext uri="{FF2B5EF4-FFF2-40B4-BE49-F238E27FC236}">
                <a16:creationId xmlns:a16="http://schemas.microsoft.com/office/drawing/2014/main" id="{0CACDB89-E2DA-F002-7B2D-D803B2050A65}"/>
              </a:ext>
            </a:extLst>
          </p:cNvPr>
          <p:cNvPicPr>
            <a:picLocks noChangeAspect="1"/>
          </p:cNvPicPr>
          <p:nvPr/>
        </p:nvPicPr>
        <p:blipFill>
          <a:blip r:embed="rId3"/>
          <a:stretch>
            <a:fillRect/>
          </a:stretch>
        </p:blipFill>
        <p:spPr>
          <a:xfrm>
            <a:off x="6461012" y="1060334"/>
            <a:ext cx="5352668" cy="3412819"/>
          </a:xfrm>
          <a:prstGeom prst="rect">
            <a:avLst/>
          </a:prstGeom>
        </p:spPr>
      </p:pic>
      <p:grpSp>
        <p:nvGrpSpPr>
          <p:cNvPr id="4" name="그룹 3">
            <a:extLst>
              <a:ext uri="{FF2B5EF4-FFF2-40B4-BE49-F238E27FC236}">
                <a16:creationId xmlns:a16="http://schemas.microsoft.com/office/drawing/2014/main" id="{AB7D7B9A-C171-6040-CD43-C576C70DB8C6}"/>
              </a:ext>
            </a:extLst>
          </p:cNvPr>
          <p:cNvGrpSpPr/>
          <p:nvPr/>
        </p:nvGrpSpPr>
        <p:grpSpPr>
          <a:xfrm>
            <a:off x="73154" y="1359038"/>
            <a:ext cx="6387858" cy="2663567"/>
            <a:chOff x="5769306" y="1450577"/>
            <a:chExt cx="6387858" cy="2663567"/>
          </a:xfrm>
        </p:grpSpPr>
        <p:pic>
          <p:nvPicPr>
            <p:cNvPr id="5" name="그림 4">
              <a:extLst>
                <a:ext uri="{FF2B5EF4-FFF2-40B4-BE49-F238E27FC236}">
                  <a16:creationId xmlns:a16="http://schemas.microsoft.com/office/drawing/2014/main" id="{D155E767-71E3-A9D5-33E4-D6A1C88085DA}"/>
                </a:ext>
              </a:extLst>
            </p:cNvPr>
            <p:cNvPicPr>
              <a:picLocks noChangeAspect="1"/>
            </p:cNvPicPr>
            <p:nvPr/>
          </p:nvPicPr>
          <p:blipFill>
            <a:blip r:embed="rId4"/>
            <a:stretch>
              <a:fillRect/>
            </a:stretch>
          </p:blipFill>
          <p:spPr>
            <a:xfrm>
              <a:off x="5769306" y="1916968"/>
              <a:ext cx="6387858" cy="2197176"/>
            </a:xfrm>
            <a:prstGeom prst="rect">
              <a:avLst/>
            </a:prstGeom>
          </p:spPr>
        </p:pic>
        <p:sp>
          <p:nvSpPr>
            <p:cNvPr id="9" name="TextBox 8">
              <a:extLst>
                <a:ext uri="{FF2B5EF4-FFF2-40B4-BE49-F238E27FC236}">
                  <a16:creationId xmlns:a16="http://schemas.microsoft.com/office/drawing/2014/main" id="{5A9CF876-6AF7-7C98-353D-BB6DAD7CF673}"/>
                </a:ext>
              </a:extLst>
            </p:cNvPr>
            <p:cNvSpPr txBox="1"/>
            <p:nvPr/>
          </p:nvSpPr>
          <p:spPr>
            <a:xfrm>
              <a:off x="6904893" y="1450577"/>
              <a:ext cx="3610708" cy="369332"/>
            </a:xfrm>
            <a:prstGeom prst="rect">
              <a:avLst/>
            </a:prstGeom>
            <a:noFill/>
          </p:spPr>
          <p:txBody>
            <a:bodyPr wrap="square">
              <a:spAutoFit/>
            </a:bodyPr>
            <a:lstStyle/>
            <a:p>
              <a:r>
                <a:rPr lang="ko-KR" altLang="en-US" b="1"/>
                <a:t>https://www.heartcellatlas.org/</a:t>
              </a:r>
            </a:p>
          </p:txBody>
        </p:sp>
      </p:grpSp>
      <p:sp>
        <p:nvSpPr>
          <p:cNvPr id="10" name="TextBox 9">
            <a:extLst>
              <a:ext uri="{FF2B5EF4-FFF2-40B4-BE49-F238E27FC236}">
                <a16:creationId xmlns:a16="http://schemas.microsoft.com/office/drawing/2014/main" id="{F3F7826C-A69E-2783-5489-7ADD6A3CF3BA}"/>
              </a:ext>
            </a:extLst>
          </p:cNvPr>
          <p:cNvSpPr txBox="1"/>
          <p:nvPr/>
        </p:nvSpPr>
        <p:spPr>
          <a:xfrm>
            <a:off x="1242079" y="4832479"/>
            <a:ext cx="10665070" cy="1754326"/>
          </a:xfrm>
          <a:prstGeom prst="rect">
            <a:avLst/>
          </a:prstGeom>
          <a:noFill/>
        </p:spPr>
        <p:txBody>
          <a:bodyPr wrap="square" rtlCol="0">
            <a:spAutoFit/>
          </a:bodyPr>
          <a:lstStyle/>
          <a:p>
            <a:r>
              <a:rPr lang="en-US" altLang="ko-KR" b="0" i="0">
                <a:effectLst/>
                <a:latin typeface="Raleway" pitchFamily="2" charset="0"/>
              </a:rPr>
              <a:t>Using single cell technologies, we profiled the transcriptome of 704,296 cells and nuclei eight anatomical cardiac regions including the cardiac conduction system we identified 12 major cardiac cell types and 75 different cell states</a:t>
            </a:r>
          </a:p>
          <a:p>
            <a:endParaRPr lang="en-US" altLang="ko-KR">
              <a:latin typeface="Raleway" pitchFamily="2" charset="0"/>
            </a:endParaRPr>
          </a:p>
          <a:p>
            <a:r>
              <a:rPr lang="en-US" altLang="ko-KR" b="0" i="0">
                <a:effectLst/>
                <a:latin typeface="Raleway" pitchFamily="2" charset="0"/>
              </a:rPr>
              <a:t>The data consists of healthy hearts from 25 adult donors, 14 female and 11 male, within the age range of 20 to 75 years old.</a:t>
            </a:r>
            <a:endParaRPr lang="ko-KR" altLang="en-US"/>
          </a:p>
        </p:txBody>
      </p:sp>
      <p:sp>
        <p:nvSpPr>
          <p:cNvPr id="11" name="직사각형 10">
            <a:extLst>
              <a:ext uri="{FF2B5EF4-FFF2-40B4-BE49-F238E27FC236}">
                <a16:creationId xmlns:a16="http://schemas.microsoft.com/office/drawing/2014/main" id="{4939BBEF-8176-620E-D5F0-1F22F8E48B09}"/>
              </a:ext>
            </a:extLst>
          </p:cNvPr>
          <p:cNvSpPr/>
          <p:nvPr/>
        </p:nvSpPr>
        <p:spPr>
          <a:xfrm>
            <a:off x="540776" y="4729674"/>
            <a:ext cx="11478592" cy="1959937"/>
          </a:xfrm>
          <a:prstGeom prst="rect">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165B0102-D951-9D27-3648-3EEA5F1E914F}"/>
              </a:ext>
            </a:extLst>
          </p:cNvPr>
          <p:cNvSpPr/>
          <p:nvPr/>
        </p:nvSpPr>
        <p:spPr>
          <a:xfrm>
            <a:off x="386115" y="5031871"/>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537106F0-524E-C86B-AF23-6D0041471AFE}"/>
              </a:ext>
            </a:extLst>
          </p:cNvPr>
          <p:cNvSpPr/>
          <p:nvPr/>
        </p:nvSpPr>
        <p:spPr>
          <a:xfrm>
            <a:off x="386115" y="5941595"/>
            <a:ext cx="360000" cy="3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 name="직선 연결선 13">
            <a:extLst>
              <a:ext uri="{FF2B5EF4-FFF2-40B4-BE49-F238E27FC236}">
                <a16:creationId xmlns:a16="http://schemas.microsoft.com/office/drawing/2014/main" id="{0A6DF401-449B-A2BA-DF9E-3753E3E5E870}"/>
              </a:ext>
            </a:extLst>
          </p:cNvPr>
          <p:cNvCxnSpPr>
            <a:stCxn id="12" idx="3"/>
          </p:cNvCxnSpPr>
          <p:nvPr/>
        </p:nvCxnSpPr>
        <p:spPr>
          <a:xfrm>
            <a:off x="746115" y="5211871"/>
            <a:ext cx="383746"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15" name="직선 연결선 14">
            <a:extLst>
              <a:ext uri="{FF2B5EF4-FFF2-40B4-BE49-F238E27FC236}">
                <a16:creationId xmlns:a16="http://schemas.microsoft.com/office/drawing/2014/main" id="{EA45FB93-E5C0-107E-9888-D01F3CCFFD1D}"/>
              </a:ext>
            </a:extLst>
          </p:cNvPr>
          <p:cNvCxnSpPr>
            <a:cxnSpLocks/>
            <a:stCxn id="13" idx="3"/>
          </p:cNvCxnSpPr>
          <p:nvPr/>
        </p:nvCxnSpPr>
        <p:spPr>
          <a:xfrm>
            <a:off x="746115" y="6121595"/>
            <a:ext cx="383746" cy="0"/>
          </a:xfrm>
          <a:prstGeom prst="line">
            <a:avLst/>
          </a:prstGeom>
          <a:ln w="28575"/>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9444F949-5028-E554-8A72-3254ABDD430D}"/>
              </a:ext>
            </a:extLst>
          </p:cNvPr>
          <p:cNvSpPr txBox="1"/>
          <p:nvPr/>
        </p:nvSpPr>
        <p:spPr>
          <a:xfrm>
            <a:off x="358366" y="5022539"/>
            <a:ext cx="415498" cy="369332"/>
          </a:xfrm>
          <a:prstGeom prst="rect">
            <a:avLst/>
          </a:prstGeom>
          <a:noFill/>
        </p:spPr>
        <p:txBody>
          <a:bodyPr wrap="none" rtlCol="0">
            <a:spAutoFit/>
          </a:bodyPr>
          <a:lstStyle/>
          <a:p>
            <a:r>
              <a:rPr lang="ko-KR" altLang="en-US" b="1">
                <a:solidFill>
                  <a:schemeClr val="bg1"/>
                </a:solidFill>
              </a:rPr>
              <a:t>１</a:t>
            </a:r>
          </a:p>
        </p:txBody>
      </p:sp>
      <p:sp>
        <p:nvSpPr>
          <p:cNvPr id="17" name="TextBox 16">
            <a:extLst>
              <a:ext uri="{FF2B5EF4-FFF2-40B4-BE49-F238E27FC236}">
                <a16:creationId xmlns:a16="http://schemas.microsoft.com/office/drawing/2014/main" id="{8BA2D242-C56D-9506-7210-0643FF9FD9E4}"/>
              </a:ext>
            </a:extLst>
          </p:cNvPr>
          <p:cNvSpPr txBox="1"/>
          <p:nvPr/>
        </p:nvSpPr>
        <p:spPr>
          <a:xfrm>
            <a:off x="358366" y="5932263"/>
            <a:ext cx="415498" cy="369332"/>
          </a:xfrm>
          <a:prstGeom prst="rect">
            <a:avLst/>
          </a:prstGeom>
          <a:noFill/>
        </p:spPr>
        <p:txBody>
          <a:bodyPr wrap="none" rtlCol="0">
            <a:spAutoFit/>
          </a:bodyPr>
          <a:lstStyle/>
          <a:p>
            <a:r>
              <a:rPr lang="ko-KR" altLang="en-US" b="1">
                <a:solidFill>
                  <a:schemeClr val="bg1"/>
                </a:solidFill>
              </a:rPr>
              <a:t>２</a:t>
            </a:r>
          </a:p>
        </p:txBody>
      </p:sp>
      <p:sp>
        <p:nvSpPr>
          <p:cNvPr id="18" name="TextBox 17">
            <a:extLst>
              <a:ext uri="{FF2B5EF4-FFF2-40B4-BE49-F238E27FC236}">
                <a16:creationId xmlns:a16="http://schemas.microsoft.com/office/drawing/2014/main" id="{3CDA36FE-0BD8-C09F-7515-2AEB7EAA76D7}"/>
              </a:ext>
            </a:extLst>
          </p:cNvPr>
          <p:cNvSpPr txBox="1"/>
          <p:nvPr/>
        </p:nvSpPr>
        <p:spPr>
          <a:xfrm>
            <a:off x="172632" y="122919"/>
            <a:ext cx="4180953" cy="646331"/>
          </a:xfrm>
          <a:prstGeom prst="rect">
            <a:avLst/>
          </a:prstGeom>
          <a:noFill/>
        </p:spPr>
        <p:txBody>
          <a:bodyPr wrap="none" rtlCol="0">
            <a:spAutoFit/>
          </a:bodyPr>
          <a:lstStyle/>
          <a:p>
            <a:r>
              <a:rPr lang="en-US" altLang="ko-KR" sz="3600" b="1">
                <a:solidFill>
                  <a:schemeClr val="bg1"/>
                </a:solidFill>
                <a:latin typeface="Raleway" pitchFamily="2" charset="0"/>
              </a:rPr>
              <a:t>Heart cell atlas v2</a:t>
            </a:r>
            <a:endParaRPr lang="ko-KR" altLang="en-US" sz="3600" b="1">
              <a:solidFill>
                <a:schemeClr val="bg1"/>
              </a:solidFill>
              <a:latin typeface="Raleway" pitchFamily="2" charset="0"/>
            </a:endParaRPr>
          </a:p>
        </p:txBody>
      </p:sp>
    </p:spTree>
    <p:extLst>
      <p:ext uri="{BB962C8B-B14F-4D97-AF65-F5344CB8AC3E}">
        <p14:creationId xmlns:p14="http://schemas.microsoft.com/office/powerpoint/2010/main" val="868932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05FBE-BF8A-8099-01EA-2238E4AA6E70}"/>
            </a:ext>
          </a:extLst>
        </p:cNvPr>
        <p:cNvGrpSpPr/>
        <p:nvPr/>
      </p:nvGrpSpPr>
      <p:grpSpPr>
        <a:xfrm>
          <a:off x="0" y="0"/>
          <a:ext cx="0" cy="0"/>
          <a:chOff x="0" y="0"/>
          <a:chExt cx="0" cy="0"/>
        </a:xfrm>
      </p:grpSpPr>
      <p:sp>
        <p:nvSpPr>
          <p:cNvPr id="6" name="직사각형 5">
            <a:extLst>
              <a:ext uri="{FF2B5EF4-FFF2-40B4-BE49-F238E27FC236}">
                <a16:creationId xmlns:a16="http://schemas.microsoft.com/office/drawing/2014/main" id="{9F8C5716-5813-4D9D-3A96-4FCE3770402F}"/>
              </a:ext>
            </a:extLst>
          </p:cNvPr>
          <p:cNvSpPr/>
          <p:nvPr/>
        </p:nvSpPr>
        <p:spPr>
          <a:xfrm>
            <a:off x="0" y="0"/>
            <a:ext cx="12192000" cy="9448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descr="상징, 로고, 엠블럼, 그래픽이(가) 표시된 사진&#10;&#10;자동 생성된 설명">
            <a:extLst>
              <a:ext uri="{FF2B5EF4-FFF2-40B4-BE49-F238E27FC236}">
                <a16:creationId xmlns:a16="http://schemas.microsoft.com/office/drawing/2014/main" id="{6F3A0381-1537-166E-F793-4885A2727E15}"/>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t="21475" b="30976"/>
          <a:stretch/>
        </p:blipFill>
        <p:spPr>
          <a:xfrm>
            <a:off x="10172117" y="0"/>
            <a:ext cx="1985047" cy="944834"/>
          </a:xfrm>
          <a:prstGeom prst="rect">
            <a:avLst/>
          </a:prstGeom>
        </p:spPr>
      </p:pic>
      <p:sp>
        <p:nvSpPr>
          <p:cNvPr id="8" name="TextBox 7">
            <a:extLst>
              <a:ext uri="{FF2B5EF4-FFF2-40B4-BE49-F238E27FC236}">
                <a16:creationId xmlns:a16="http://schemas.microsoft.com/office/drawing/2014/main" id="{BD8E2663-6FE2-DC2C-27E8-0732FF566646}"/>
              </a:ext>
            </a:extLst>
          </p:cNvPr>
          <p:cNvSpPr txBox="1"/>
          <p:nvPr/>
        </p:nvSpPr>
        <p:spPr>
          <a:xfrm>
            <a:off x="129309" y="149251"/>
            <a:ext cx="1896673" cy="646331"/>
          </a:xfrm>
          <a:prstGeom prst="rect">
            <a:avLst/>
          </a:prstGeom>
          <a:noFill/>
        </p:spPr>
        <p:txBody>
          <a:bodyPr wrap="none" rtlCol="0">
            <a:spAutoFit/>
          </a:bodyPr>
          <a:lstStyle/>
          <a:p>
            <a:r>
              <a:rPr lang="en-US" altLang="ko-KR" sz="3600" b="1">
                <a:solidFill>
                  <a:schemeClr val="bg1"/>
                </a:solidFill>
                <a:latin typeface="Raleway" pitchFamily="2" charset="0"/>
              </a:rPr>
              <a:t>Method</a:t>
            </a:r>
            <a:endParaRPr lang="ko-KR" altLang="en-US" sz="3600" b="1">
              <a:solidFill>
                <a:schemeClr val="bg1"/>
              </a:solidFill>
              <a:latin typeface="Raleway" pitchFamily="2" charset="0"/>
            </a:endParaRPr>
          </a:p>
        </p:txBody>
      </p:sp>
      <p:grpSp>
        <p:nvGrpSpPr>
          <p:cNvPr id="30" name="그룹 29">
            <a:extLst>
              <a:ext uri="{FF2B5EF4-FFF2-40B4-BE49-F238E27FC236}">
                <a16:creationId xmlns:a16="http://schemas.microsoft.com/office/drawing/2014/main" id="{38BF94B4-D31E-C6B1-9754-B0C064707788}"/>
              </a:ext>
            </a:extLst>
          </p:cNvPr>
          <p:cNvGrpSpPr/>
          <p:nvPr/>
        </p:nvGrpSpPr>
        <p:grpSpPr>
          <a:xfrm>
            <a:off x="0" y="1282781"/>
            <a:ext cx="9816353" cy="5186641"/>
            <a:chOff x="494309" y="1269576"/>
            <a:chExt cx="9816353" cy="5186641"/>
          </a:xfrm>
        </p:grpSpPr>
        <p:pic>
          <p:nvPicPr>
            <p:cNvPr id="22" name="그림 21">
              <a:extLst>
                <a:ext uri="{FF2B5EF4-FFF2-40B4-BE49-F238E27FC236}">
                  <a16:creationId xmlns:a16="http://schemas.microsoft.com/office/drawing/2014/main" id="{7854180B-8971-04BB-F614-3559B7AB12D4}"/>
                </a:ext>
              </a:extLst>
            </p:cNvPr>
            <p:cNvPicPr>
              <a:picLocks noChangeAspect="1"/>
            </p:cNvPicPr>
            <p:nvPr/>
          </p:nvPicPr>
          <p:blipFill>
            <a:blip r:embed="rId4"/>
            <a:srcRect l="101"/>
            <a:stretch/>
          </p:blipFill>
          <p:spPr>
            <a:xfrm>
              <a:off x="7305774" y="1422401"/>
              <a:ext cx="3004888" cy="2367779"/>
            </a:xfrm>
            <a:prstGeom prst="rect">
              <a:avLst/>
            </a:prstGeom>
          </p:spPr>
        </p:pic>
        <p:pic>
          <p:nvPicPr>
            <p:cNvPr id="3" name="Picture 2" descr="Heart | Structure, Function, Diagram, Anatomy, &amp; Facts | Britannica">
              <a:extLst>
                <a:ext uri="{FF2B5EF4-FFF2-40B4-BE49-F238E27FC236}">
                  <a16:creationId xmlns:a16="http://schemas.microsoft.com/office/drawing/2014/main" id="{CA553AC7-A1B5-6F45-89B1-3CDE99CA27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4309" y="1269576"/>
              <a:ext cx="5650078" cy="5186641"/>
            </a:xfrm>
            <a:prstGeom prst="rect">
              <a:avLst/>
            </a:prstGeom>
            <a:noFill/>
            <a:extLst>
              <a:ext uri="{909E8E84-426E-40DD-AFC4-6F175D3DCCD1}">
                <a14:hiddenFill xmlns:a14="http://schemas.microsoft.com/office/drawing/2010/main">
                  <a:solidFill>
                    <a:srgbClr val="FFFFFF"/>
                  </a:solidFill>
                </a14:hiddenFill>
              </a:ext>
            </a:extLst>
          </p:spPr>
        </p:pic>
        <p:sp>
          <p:nvSpPr>
            <p:cNvPr id="27" name="직사각형 26">
              <a:extLst>
                <a:ext uri="{FF2B5EF4-FFF2-40B4-BE49-F238E27FC236}">
                  <a16:creationId xmlns:a16="http://schemas.microsoft.com/office/drawing/2014/main" id="{2DF31D04-20FB-4CE3-7DCA-29097BBFB926}"/>
                </a:ext>
              </a:extLst>
            </p:cNvPr>
            <p:cNvSpPr/>
            <p:nvPr/>
          </p:nvSpPr>
          <p:spPr>
            <a:xfrm>
              <a:off x="4544291" y="1422401"/>
              <a:ext cx="4350326" cy="3679342"/>
            </a:xfrm>
            <a:custGeom>
              <a:avLst/>
              <a:gdLst>
                <a:gd name="connsiteX0" fmla="*/ 0 w 4156363"/>
                <a:gd name="connsiteY0" fmla="*/ 0 h 2367779"/>
                <a:gd name="connsiteX1" fmla="*/ 4156363 w 4156363"/>
                <a:gd name="connsiteY1" fmla="*/ 0 h 2367779"/>
                <a:gd name="connsiteX2" fmla="*/ 4156363 w 4156363"/>
                <a:gd name="connsiteY2" fmla="*/ 2367779 h 2367779"/>
                <a:gd name="connsiteX3" fmla="*/ 0 w 4156363"/>
                <a:gd name="connsiteY3" fmla="*/ 2367779 h 2367779"/>
                <a:gd name="connsiteX4" fmla="*/ 0 w 4156363"/>
                <a:gd name="connsiteY4" fmla="*/ 0 h 2367779"/>
                <a:gd name="connsiteX0" fmla="*/ 0 w 4230254"/>
                <a:gd name="connsiteY0" fmla="*/ 3371273 h 3371273"/>
                <a:gd name="connsiteX1" fmla="*/ 4230254 w 4230254"/>
                <a:gd name="connsiteY1" fmla="*/ 0 h 3371273"/>
                <a:gd name="connsiteX2" fmla="*/ 4230254 w 4230254"/>
                <a:gd name="connsiteY2" fmla="*/ 2367779 h 3371273"/>
                <a:gd name="connsiteX3" fmla="*/ 73891 w 4230254"/>
                <a:gd name="connsiteY3" fmla="*/ 2367779 h 3371273"/>
                <a:gd name="connsiteX4" fmla="*/ 0 w 4230254"/>
                <a:gd name="connsiteY4" fmla="*/ 3371273 h 3371273"/>
                <a:gd name="connsiteX0" fmla="*/ 0 w 4230254"/>
                <a:gd name="connsiteY0" fmla="*/ 3371273 h 3707051"/>
                <a:gd name="connsiteX1" fmla="*/ 4230254 w 4230254"/>
                <a:gd name="connsiteY1" fmla="*/ 0 h 3707051"/>
                <a:gd name="connsiteX2" fmla="*/ 4230254 w 4230254"/>
                <a:gd name="connsiteY2" fmla="*/ 2367779 h 3707051"/>
                <a:gd name="connsiteX3" fmla="*/ 18473 w 4230254"/>
                <a:gd name="connsiteY3" fmla="*/ 3707051 h 3707051"/>
                <a:gd name="connsiteX4" fmla="*/ 0 w 4230254"/>
                <a:gd name="connsiteY4" fmla="*/ 3371273 h 3707051"/>
                <a:gd name="connsiteX0" fmla="*/ 0 w 4267199"/>
                <a:gd name="connsiteY0" fmla="*/ 3315854 h 3707051"/>
                <a:gd name="connsiteX1" fmla="*/ 4267199 w 4267199"/>
                <a:gd name="connsiteY1" fmla="*/ 0 h 3707051"/>
                <a:gd name="connsiteX2" fmla="*/ 4267199 w 4267199"/>
                <a:gd name="connsiteY2" fmla="*/ 2367779 h 3707051"/>
                <a:gd name="connsiteX3" fmla="*/ 55418 w 4267199"/>
                <a:gd name="connsiteY3" fmla="*/ 3707051 h 3707051"/>
                <a:gd name="connsiteX4" fmla="*/ 0 w 4267199"/>
                <a:gd name="connsiteY4" fmla="*/ 3315854 h 3707051"/>
                <a:gd name="connsiteX0" fmla="*/ 83127 w 4350326"/>
                <a:gd name="connsiteY0" fmla="*/ 3315854 h 3679342"/>
                <a:gd name="connsiteX1" fmla="*/ 4350326 w 4350326"/>
                <a:gd name="connsiteY1" fmla="*/ 0 h 3679342"/>
                <a:gd name="connsiteX2" fmla="*/ 4350326 w 4350326"/>
                <a:gd name="connsiteY2" fmla="*/ 2367779 h 3679342"/>
                <a:gd name="connsiteX3" fmla="*/ 0 w 4350326"/>
                <a:gd name="connsiteY3" fmla="*/ 3679342 h 3679342"/>
                <a:gd name="connsiteX4" fmla="*/ 83127 w 4350326"/>
                <a:gd name="connsiteY4" fmla="*/ 3315854 h 3679342"/>
                <a:gd name="connsiteX0" fmla="*/ 0 w 4350326"/>
                <a:gd name="connsiteY0" fmla="*/ 3380508 h 3679342"/>
                <a:gd name="connsiteX1" fmla="*/ 4350326 w 4350326"/>
                <a:gd name="connsiteY1" fmla="*/ 0 h 3679342"/>
                <a:gd name="connsiteX2" fmla="*/ 4350326 w 4350326"/>
                <a:gd name="connsiteY2" fmla="*/ 2367779 h 3679342"/>
                <a:gd name="connsiteX3" fmla="*/ 0 w 4350326"/>
                <a:gd name="connsiteY3" fmla="*/ 3679342 h 3679342"/>
                <a:gd name="connsiteX4" fmla="*/ 0 w 4350326"/>
                <a:gd name="connsiteY4" fmla="*/ 3380508 h 3679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0326" h="3679342">
                  <a:moveTo>
                    <a:pt x="0" y="3380508"/>
                  </a:moveTo>
                  <a:lnTo>
                    <a:pt x="4350326" y="0"/>
                  </a:lnTo>
                  <a:lnTo>
                    <a:pt x="4350326" y="2367779"/>
                  </a:lnTo>
                  <a:lnTo>
                    <a:pt x="0" y="3679342"/>
                  </a:lnTo>
                  <a:lnTo>
                    <a:pt x="0" y="3380508"/>
                  </a:lnTo>
                  <a:close/>
                </a:path>
              </a:pathLst>
            </a:custGeom>
            <a:solidFill>
              <a:schemeClr val="accent6">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9" name="TextBox 28">
            <a:extLst>
              <a:ext uri="{FF2B5EF4-FFF2-40B4-BE49-F238E27FC236}">
                <a16:creationId xmlns:a16="http://schemas.microsoft.com/office/drawing/2014/main" id="{1FDADC57-8984-8C7C-C322-431383D05A47}"/>
              </a:ext>
            </a:extLst>
          </p:cNvPr>
          <p:cNvSpPr txBox="1"/>
          <p:nvPr/>
        </p:nvSpPr>
        <p:spPr>
          <a:xfrm>
            <a:off x="6283292" y="4682390"/>
            <a:ext cx="5650078" cy="1846659"/>
          </a:xfrm>
          <a:prstGeom prst="rect">
            <a:avLst/>
          </a:prstGeom>
          <a:noFill/>
        </p:spPr>
        <p:txBody>
          <a:bodyPr wrap="square">
            <a:spAutoFit/>
          </a:bodyPr>
          <a:lstStyle/>
          <a:p>
            <a:pPr marL="285750" indent="-285750">
              <a:buFont typeface="Arial" panose="020B0604020202020204" pitchFamily="34" charset="0"/>
              <a:buChar char="•"/>
            </a:pPr>
            <a:r>
              <a:rPr lang="fr-FR" altLang="ko-KR" sz="1600">
                <a:latin typeface="Raleway" pitchFamily="2" charset="0"/>
              </a:rPr>
              <a:t>Endocardium vs Myocardium Comparative Analysis</a:t>
            </a:r>
          </a:p>
          <a:p>
            <a:pPr marL="285750" indent="-285750">
              <a:buFont typeface="Arial" panose="020B0604020202020204" pitchFamily="34" charset="0"/>
              <a:buChar char="•"/>
            </a:pPr>
            <a:r>
              <a:rPr lang="fr-FR" altLang="ko-KR" sz="1600">
                <a:latin typeface="Raleway" pitchFamily="2" charset="0"/>
              </a:rPr>
              <a:t>Myocardium close to Endocardium vs Myocardium far from Endocardium</a:t>
            </a:r>
          </a:p>
          <a:p>
            <a:pPr marL="285750" indent="-285750">
              <a:buFont typeface="Arial" panose="020B0604020202020204" pitchFamily="34" charset="0"/>
              <a:buChar char="•"/>
            </a:pPr>
            <a:r>
              <a:rPr lang="fr-FR" altLang="ko-KR" sz="1600">
                <a:latin typeface="Raleway" pitchFamily="2" charset="0"/>
              </a:rPr>
              <a:t>Right </a:t>
            </a:r>
            <a:r>
              <a:rPr lang="en-US" altLang="ko-KR" sz="1600">
                <a:latin typeface="Raleway" pitchFamily="2" charset="0"/>
              </a:rPr>
              <a:t>ventricle</a:t>
            </a:r>
            <a:r>
              <a:rPr lang="fr-FR" altLang="ko-KR" sz="1600">
                <a:latin typeface="Raleway" pitchFamily="2" charset="0"/>
              </a:rPr>
              <a:t> vs Left </a:t>
            </a:r>
            <a:r>
              <a:rPr lang="en-US" altLang="ko-KR" sz="1600">
                <a:latin typeface="Raleway" pitchFamily="2" charset="0"/>
              </a:rPr>
              <a:t>ventricle</a:t>
            </a:r>
            <a:r>
              <a:rPr lang="fr-FR" altLang="ko-KR" sz="1600">
                <a:latin typeface="Raleway" pitchFamily="2" charset="0"/>
              </a:rPr>
              <a:t> comparison of Endocardium, Epicardium, Myocardium</a:t>
            </a:r>
          </a:p>
          <a:p>
            <a:pPr marL="285750" indent="-285750">
              <a:buFont typeface="Arial" panose="020B0604020202020204" pitchFamily="34" charset="0"/>
              <a:buChar char="•"/>
            </a:pPr>
            <a:r>
              <a:rPr lang="fr-FR" altLang="ko-KR" sz="1600">
                <a:latin typeface="Raleway" pitchFamily="2" charset="0"/>
              </a:rPr>
              <a:t>Identify genes associated with Shear Stress</a:t>
            </a:r>
          </a:p>
          <a:p>
            <a:pPr marL="285750" indent="-285750">
              <a:buFont typeface="Arial" panose="020B0604020202020204" pitchFamily="34" charset="0"/>
              <a:buChar char="•"/>
            </a:pPr>
            <a:r>
              <a:rPr lang="fr-FR" altLang="ko-KR" sz="1600">
                <a:latin typeface="Raleway" pitchFamily="2" charset="0"/>
              </a:rPr>
              <a:t>Identify genes associated with inflammation</a:t>
            </a:r>
            <a:endParaRPr lang="ko-KR" altLang="en-US" sz="1600">
              <a:latin typeface="Raleway" pitchFamily="2" charset="0"/>
            </a:endParaRPr>
          </a:p>
        </p:txBody>
      </p:sp>
      <p:sp>
        <p:nvSpPr>
          <p:cNvPr id="31" name="TextBox 30">
            <a:extLst>
              <a:ext uri="{FF2B5EF4-FFF2-40B4-BE49-F238E27FC236}">
                <a16:creationId xmlns:a16="http://schemas.microsoft.com/office/drawing/2014/main" id="{42AC12B0-A4EE-44EC-80DA-4E037F01C0BE}"/>
              </a:ext>
            </a:extLst>
          </p:cNvPr>
          <p:cNvSpPr txBox="1"/>
          <p:nvPr/>
        </p:nvSpPr>
        <p:spPr>
          <a:xfrm>
            <a:off x="8687783" y="3943766"/>
            <a:ext cx="956287" cy="523220"/>
          </a:xfrm>
          <a:prstGeom prst="rect">
            <a:avLst/>
          </a:prstGeom>
          <a:noFill/>
        </p:spPr>
        <p:txBody>
          <a:bodyPr wrap="none" rtlCol="0">
            <a:spAutoFit/>
          </a:bodyPr>
          <a:lstStyle/>
          <a:p>
            <a:r>
              <a:rPr lang="en-US" altLang="ko-KR" sz="2800" b="1"/>
              <a:t>Goal</a:t>
            </a:r>
            <a:endParaRPr lang="ko-KR" altLang="en-US" b="1"/>
          </a:p>
        </p:txBody>
      </p:sp>
      <p:sp>
        <p:nvSpPr>
          <p:cNvPr id="33" name="사각형: 둥근 모서리 32">
            <a:extLst>
              <a:ext uri="{FF2B5EF4-FFF2-40B4-BE49-F238E27FC236}">
                <a16:creationId xmlns:a16="http://schemas.microsoft.com/office/drawing/2014/main" id="{E7F91AC1-E2C2-EF6C-3D23-8D5C68D042E5}"/>
              </a:ext>
            </a:extLst>
          </p:cNvPr>
          <p:cNvSpPr/>
          <p:nvPr/>
        </p:nvSpPr>
        <p:spPr>
          <a:xfrm>
            <a:off x="6266529" y="4472037"/>
            <a:ext cx="5798797" cy="2216439"/>
          </a:xfrm>
          <a:prstGeom prst="roundRect">
            <a:avLst>
              <a:gd name="adj" fmla="val 10200"/>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2788686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39362-2F59-58C7-662C-7A33E8E7FE37}"/>
            </a:ext>
          </a:extLst>
        </p:cNvPr>
        <p:cNvGrpSpPr/>
        <p:nvPr/>
      </p:nvGrpSpPr>
      <p:grpSpPr>
        <a:xfrm>
          <a:off x="0" y="0"/>
          <a:ext cx="0" cy="0"/>
          <a:chOff x="0" y="0"/>
          <a:chExt cx="0" cy="0"/>
        </a:xfrm>
      </p:grpSpPr>
      <p:sp>
        <p:nvSpPr>
          <p:cNvPr id="6" name="직사각형 5">
            <a:extLst>
              <a:ext uri="{FF2B5EF4-FFF2-40B4-BE49-F238E27FC236}">
                <a16:creationId xmlns:a16="http://schemas.microsoft.com/office/drawing/2014/main" id="{E7447F17-7D21-8F31-EE6C-0A5FF404CE00}"/>
              </a:ext>
            </a:extLst>
          </p:cNvPr>
          <p:cNvSpPr/>
          <p:nvPr/>
        </p:nvSpPr>
        <p:spPr>
          <a:xfrm>
            <a:off x="0" y="0"/>
            <a:ext cx="12192000" cy="9448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descr="상징, 로고, 엠블럼, 그래픽이(가) 표시된 사진&#10;&#10;자동 생성된 설명">
            <a:extLst>
              <a:ext uri="{FF2B5EF4-FFF2-40B4-BE49-F238E27FC236}">
                <a16:creationId xmlns:a16="http://schemas.microsoft.com/office/drawing/2014/main" id="{1908213A-FAE6-7A1E-528F-7B9406762BC1}"/>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t="21475" b="30976"/>
          <a:stretch/>
        </p:blipFill>
        <p:spPr>
          <a:xfrm>
            <a:off x="10172117" y="0"/>
            <a:ext cx="1985047" cy="944834"/>
          </a:xfrm>
          <a:prstGeom prst="rect">
            <a:avLst/>
          </a:prstGeom>
        </p:spPr>
      </p:pic>
      <p:sp>
        <p:nvSpPr>
          <p:cNvPr id="8" name="TextBox 7">
            <a:extLst>
              <a:ext uri="{FF2B5EF4-FFF2-40B4-BE49-F238E27FC236}">
                <a16:creationId xmlns:a16="http://schemas.microsoft.com/office/drawing/2014/main" id="{FF5C6492-6348-0B91-0FC8-66F3D23A7479}"/>
              </a:ext>
            </a:extLst>
          </p:cNvPr>
          <p:cNvSpPr txBox="1"/>
          <p:nvPr/>
        </p:nvSpPr>
        <p:spPr>
          <a:xfrm>
            <a:off x="129309" y="149251"/>
            <a:ext cx="2951449" cy="646331"/>
          </a:xfrm>
          <a:prstGeom prst="rect">
            <a:avLst/>
          </a:prstGeom>
          <a:noFill/>
        </p:spPr>
        <p:txBody>
          <a:bodyPr wrap="none" rtlCol="0">
            <a:spAutoFit/>
          </a:bodyPr>
          <a:lstStyle/>
          <a:p>
            <a:r>
              <a:rPr lang="en-US" altLang="ko-KR" sz="3600" b="1">
                <a:solidFill>
                  <a:schemeClr val="bg1"/>
                </a:solidFill>
                <a:latin typeface="Raleway" pitchFamily="2" charset="0"/>
              </a:rPr>
              <a:t>Recruitment</a:t>
            </a:r>
            <a:endParaRPr lang="ko-KR" altLang="en-US" sz="3600" b="1">
              <a:solidFill>
                <a:schemeClr val="bg1"/>
              </a:solidFill>
              <a:latin typeface="Raleway" pitchFamily="2" charset="0"/>
            </a:endParaRPr>
          </a:p>
        </p:txBody>
      </p:sp>
      <p:sp>
        <p:nvSpPr>
          <p:cNvPr id="4" name="TextBox 3">
            <a:extLst>
              <a:ext uri="{FF2B5EF4-FFF2-40B4-BE49-F238E27FC236}">
                <a16:creationId xmlns:a16="http://schemas.microsoft.com/office/drawing/2014/main" id="{B5FF55AF-BC96-9AAD-17BF-9B281C0936BF}"/>
              </a:ext>
            </a:extLst>
          </p:cNvPr>
          <p:cNvSpPr txBox="1"/>
          <p:nvPr/>
        </p:nvSpPr>
        <p:spPr>
          <a:xfrm>
            <a:off x="325559" y="1348033"/>
            <a:ext cx="6122375" cy="5016758"/>
          </a:xfrm>
          <a:prstGeom prst="rect">
            <a:avLst/>
          </a:prstGeom>
          <a:noFill/>
        </p:spPr>
        <p:txBody>
          <a:bodyPr wrap="square" rtlCol="0">
            <a:spAutoFit/>
          </a:bodyPr>
          <a:lstStyle/>
          <a:p>
            <a:pPr marL="285750" indent="-285750">
              <a:buFont typeface="Arial" panose="020B0604020202020204" pitchFamily="34" charset="0"/>
              <a:buChar char="•"/>
            </a:pPr>
            <a:r>
              <a:rPr lang="en-US" altLang="ko-KR" sz="2000">
                <a:latin typeface="Raleway" pitchFamily="2" charset="0"/>
              </a:rPr>
              <a:t>Our goal for this hackathon is to quickly learn and conduct spatial transcriptomics and single-cell analysis as complete beginners within a short period.</a:t>
            </a:r>
          </a:p>
          <a:p>
            <a:pPr marL="285750" indent="-285750">
              <a:buFont typeface="Arial" panose="020B0604020202020204" pitchFamily="34" charset="0"/>
              <a:buChar char="•"/>
            </a:pPr>
            <a:endParaRPr lang="en-US" altLang="ko-KR" sz="2000">
              <a:latin typeface="Raleway" pitchFamily="2" charset="0"/>
            </a:endParaRPr>
          </a:p>
          <a:p>
            <a:pPr marL="285750" indent="-285750">
              <a:buFont typeface="Arial" panose="020B0604020202020204" pitchFamily="34" charset="0"/>
              <a:buChar char="•"/>
            </a:pPr>
            <a:r>
              <a:rPr lang="en-US" altLang="ko-KR" sz="2000">
                <a:latin typeface="Raleway" pitchFamily="2" charset="0"/>
              </a:rPr>
              <a:t>Our focus is on </a:t>
            </a:r>
            <a:r>
              <a:rPr lang="en-US" altLang="ko-KR" sz="2000" b="1">
                <a:latin typeface="Raleway" pitchFamily="2" charset="0"/>
              </a:rPr>
              <a:t>analysis rather than tool development</a:t>
            </a:r>
            <a:r>
              <a:rPr lang="en-US" altLang="ko-KR" sz="2000">
                <a:latin typeface="Raleway" pitchFamily="2" charset="0"/>
              </a:rPr>
              <a:t>, and we welcome beginners to join us. Since we are also beginners, we are looking for teammates who want to learn and grow together.</a:t>
            </a:r>
          </a:p>
          <a:p>
            <a:pPr marL="285750" indent="-285750">
              <a:buFont typeface="Arial" panose="020B0604020202020204" pitchFamily="34" charset="0"/>
              <a:buChar char="•"/>
            </a:pPr>
            <a:endParaRPr lang="en-US" altLang="ko-KR" sz="2000">
              <a:latin typeface="Raleway" pitchFamily="2" charset="0"/>
            </a:endParaRPr>
          </a:p>
          <a:p>
            <a:pPr marL="285750" indent="-285750">
              <a:buFont typeface="Arial" panose="020B0604020202020204" pitchFamily="34" charset="0"/>
              <a:buChar char="•"/>
            </a:pPr>
            <a:r>
              <a:rPr lang="en-US" altLang="ko-KR" sz="2000">
                <a:latin typeface="Raleway" pitchFamily="2" charset="0"/>
              </a:rPr>
              <a:t>We would also greatly appreciate experienced participants who can support us along the way.</a:t>
            </a:r>
          </a:p>
          <a:p>
            <a:endParaRPr lang="en-US" altLang="ko-KR" sz="2000">
              <a:latin typeface="Raleway" pitchFamily="2" charset="0"/>
            </a:endParaRPr>
          </a:p>
          <a:p>
            <a:pPr marL="285750" indent="-285750">
              <a:buFont typeface="Arial" panose="020B0604020202020204" pitchFamily="34" charset="0"/>
              <a:buChar char="•"/>
            </a:pPr>
            <a:r>
              <a:rPr lang="en-US" altLang="ko-KR" sz="2000">
                <a:latin typeface="Raleway" pitchFamily="2" charset="0"/>
              </a:rPr>
              <a:t>Experts in heart research are especially welcome!</a:t>
            </a:r>
          </a:p>
        </p:txBody>
      </p:sp>
      <p:pic>
        <p:nvPicPr>
          <p:cNvPr id="3074" name="Picture 2" descr="From Data to Stories: How to Speak Data Science">
            <a:extLst>
              <a:ext uri="{FF2B5EF4-FFF2-40B4-BE49-F238E27FC236}">
                <a16:creationId xmlns:a16="http://schemas.microsoft.com/office/drawing/2014/main" id="{2E7D5133-E250-6EB1-79CA-7CFF9CF7354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601"/>
          <a:stretch/>
        </p:blipFill>
        <p:spPr bwMode="auto">
          <a:xfrm>
            <a:off x="6534363" y="1596096"/>
            <a:ext cx="5259769" cy="4650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3935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C0B8B-71D4-462B-8557-7F0B7D508C0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A6AD03E-2090-2B13-99A1-E3E8F85F2674}"/>
              </a:ext>
            </a:extLst>
          </p:cNvPr>
          <p:cNvSpPr txBox="1"/>
          <p:nvPr/>
        </p:nvSpPr>
        <p:spPr>
          <a:xfrm>
            <a:off x="2872122" y="3013501"/>
            <a:ext cx="6742547" cy="830997"/>
          </a:xfrm>
          <a:prstGeom prst="rect">
            <a:avLst/>
          </a:prstGeom>
          <a:noFill/>
        </p:spPr>
        <p:txBody>
          <a:bodyPr wrap="square">
            <a:spAutoFit/>
          </a:bodyPr>
          <a:lstStyle/>
          <a:p>
            <a:pPr>
              <a:spcAft>
                <a:spcPts val="800"/>
              </a:spcAft>
            </a:pPr>
            <a:r>
              <a:rPr lang="fr-FR" altLang="ko-KR" sz="4800" b="1" kern="100">
                <a:solidFill>
                  <a:srgbClr val="0D0D0D"/>
                </a:solidFill>
                <a:latin typeface="Söhne"/>
                <a:ea typeface="맑은 고딕" panose="020B0503020000020004" pitchFamily="50" charset="-127"/>
                <a:cs typeface="Times New Roman" panose="02020603050405020304" pitchFamily="18" charset="0"/>
              </a:rPr>
              <a:t>Thank You for Listening</a:t>
            </a:r>
            <a:endParaRPr lang="ko-KR" altLang="ko-KR" sz="4800" b="1" kern="100">
              <a:solidFill>
                <a:srgbClr val="0D0D0D"/>
              </a:solidFill>
              <a:latin typeface="Söhne"/>
              <a:ea typeface="맑은 고딕" panose="020B0503020000020004" pitchFamily="50" charset="-127"/>
              <a:cs typeface="Times New Roman" panose="02020603050405020304" pitchFamily="18" charset="0"/>
            </a:endParaRPr>
          </a:p>
        </p:txBody>
      </p:sp>
      <p:sp>
        <p:nvSpPr>
          <p:cNvPr id="8" name="직사각형 7">
            <a:extLst>
              <a:ext uri="{FF2B5EF4-FFF2-40B4-BE49-F238E27FC236}">
                <a16:creationId xmlns:a16="http://schemas.microsoft.com/office/drawing/2014/main" id="{DD69C4C0-E731-BD3C-1DB2-6CC970BC05F9}"/>
              </a:ext>
            </a:extLst>
          </p:cNvPr>
          <p:cNvSpPr/>
          <p:nvPr/>
        </p:nvSpPr>
        <p:spPr>
          <a:xfrm>
            <a:off x="-1" y="0"/>
            <a:ext cx="3269673" cy="9605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122BCFC5-18E7-6356-C6D9-04882577EADD}"/>
              </a:ext>
            </a:extLst>
          </p:cNvPr>
          <p:cNvSpPr/>
          <p:nvPr/>
        </p:nvSpPr>
        <p:spPr>
          <a:xfrm>
            <a:off x="2872122" y="480291"/>
            <a:ext cx="1653696" cy="69272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Picture 2" descr="충남대에 대해 알아보자!! : 네이버 블로그">
            <a:extLst>
              <a:ext uri="{FF2B5EF4-FFF2-40B4-BE49-F238E27FC236}">
                <a16:creationId xmlns:a16="http://schemas.microsoft.com/office/drawing/2014/main" id="{ED25B793-55AB-F13A-3486-F433F2A90582}"/>
              </a:ext>
            </a:extLst>
          </p:cNvPr>
          <p:cNvPicPr>
            <a:picLocks noChangeAspect="1" noChangeArrowheads="1"/>
          </p:cNvPicPr>
          <p:nvPr/>
        </p:nvPicPr>
        <p:blipFill>
          <a:blip r:embed="rId2">
            <a:alphaModFix amt="5000"/>
            <a:extLst>
              <a:ext uri="{28A0092B-C50C-407E-A947-70E740481C1C}">
                <a14:useLocalDpi xmlns:a14="http://schemas.microsoft.com/office/drawing/2010/main" val="0"/>
              </a:ext>
            </a:extLst>
          </a:blip>
          <a:srcRect/>
          <a:stretch>
            <a:fillRect/>
          </a:stretch>
        </p:blipFill>
        <p:spPr bwMode="auto">
          <a:xfrm>
            <a:off x="8417711" y="-1015483"/>
            <a:ext cx="4428572" cy="4254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0162587"/>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959</TotalTime>
  <Words>770</Words>
  <Application>Microsoft Office PowerPoint</Application>
  <PresentationFormat>와이드스크린</PresentationFormat>
  <Paragraphs>82</Paragraphs>
  <Slides>9</Slides>
  <Notes>3</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9</vt:i4>
      </vt:variant>
    </vt:vector>
  </HeadingPairs>
  <TitlesOfParts>
    <vt:vector size="15" baseType="lpstr">
      <vt:lpstr>Apple SD Gothic Neo</vt:lpstr>
      <vt:lpstr>Söhne</vt:lpstr>
      <vt:lpstr>맑은 고딕</vt:lpstr>
      <vt:lpstr>Arial</vt:lpstr>
      <vt:lpstr>Raleway</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김상윤</dc:creator>
  <cp:lastModifiedBy>김상윤</cp:lastModifiedBy>
  <cp:revision>9</cp:revision>
  <dcterms:created xsi:type="dcterms:W3CDTF">2025-02-13T13:33:32Z</dcterms:created>
  <dcterms:modified xsi:type="dcterms:W3CDTF">2025-02-15T10:53:41Z</dcterms:modified>
</cp:coreProperties>
</file>