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C035"/>
    <a:srgbClr val="864F3E"/>
    <a:srgbClr val="C1514D"/>
    <a:srgbClr val="4E71AD"/>
    <a:srgbClr val="89C1F2"/>
    <a:srgbClr val="BB3689"/>
    <a:srgbClr val="755099"/>
    <a:srgbClr val="1987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73"/>
  </p:normalViewPr>
  <p:slideViewPr>
    <p:cSldViewPr snapToGrid="0">
      <p:cViewPr>
        <p:scale>
          <a:sx n="117" d="100"/>
          <a:sy n="117" d="100"/>
        </p:scale>
        <p:origin x="134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1879E-EF3B-64C7-AA49-A313EA0FF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46E14B-2FB8-0B98-F031-502C04BD8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212A0-A7C1-B558-4DD1-351A13844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C15B6-8D8F-07A1-6990-34A86525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70F711-DE68-110E-2FC7-DEBD2741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212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0C495-F96B-5348-BCE2-0BC96613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3D494-669C-405B-71F3-405151F6C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641E16-41A0-F522-7D12-160F4E6F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813D0-0E20-6647-BF6B-1AD10F88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9D45C-FA3E-2CEF-25D9-8577C741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067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D6772-6EC2-17B2-D3AA-BC48257C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578688-10AF-8245-835A-63ECE3810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77AC2B-75BA-98DB-23D0-BBAE83DA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B68A61-0B32-8A00-DC31-ECB159A2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950CD-4993-BBB8-5787-6DFE049F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953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12055-6DC8-9868-7752-5580454F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3B71F0-5D5D-9AF6-57B9-0455F8933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4174E4-9230-7D11-1BF8-94B1E0CFA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6BF92E-5D12-D2DC-F50F-D5AE36D3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170A0D-8570-7BCF-2914-CA55B923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ECA6E5-CAF4-5B2D-CDB0-A4CE192B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13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531AE-BA38-46FA-07B3-166694D1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9A99E-C782-4B38-33E3-F59FD9592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BFBA08-438D-4840-79DD-F9C237ED4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DB91B-BAFF-D980-4AA7-CC219155A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47ABD7-1E82-E17D-6DE7-7054256FD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A50899-2471-34E2-E131-D34B83B5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7F36CF-4CAA-2123-D9E1-6751C122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D640F0-1F6F-1EFE-D386-FF665722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070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00A8A-2096-CEE2-34C3-8A2107A2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780E90-3013-432E-8F83-2E62EC06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D3C53A-4CB6-D75B-8F4E-CF74DA8F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FF2C3E-D36B-D6BC-871B-DD71040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165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2A4E28-47A6-0225-7B8E-F146C6C6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5D0CCF-0E90-3686-C4D5-D1676ED0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892BC-CF71-94AE-2E0D-C767C2F5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591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5F7A5-8F30-7FF5-E593-BD353653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24FE5E-62DA-D1BF-C826-3BB940654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B1E623-7574-7C02-BE73-49814EC56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AD227B-B5BD-9A63-E6B3-0BC4652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9A4E2-6875-95B9-F8A6-EA41D88D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B158B2-235F-B7FC-4F5A-08FFB99E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576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8FE3D-6D25-19D7-75BD-E05046FE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0CBDB8-7B26-12E4-A13B-9CB5D1FF6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5E4C2F-88AB-0D94-4FED-D379CD460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BE50A5-E259-39BA-F801-9E959075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16B7DB-138C-CA17-E918-DB4C936A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025BD2-F94C-2922-B6FE-2F539A85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175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8DF7D-5468-6FB2-1677-B1F4B89A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0673DB-7501-E347-FF11-8D98CF7A7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7CD4-A5E8-20F8-9826-ABFCA91D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E7492-33AE-69B5-52B0-28DF28E0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BA11CB-0D8B-E403-38BD-B9DC2FD1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103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C8F65D-523A-4913-57A2-5CD93887C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4B596F-B1FE-FAB1-2A24-B13057BED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6CCE6-02F1-31E4-BE2E-31166D05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1B308-7C57-E9D1-620F-38719EFD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438151-744E-1945-D7F2-49620F76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0402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111AA9-428B-CBB6-4DE4-E8C9095F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ACE72B-7743-2323-D969-3B44A33B1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E8FEA-DB1A-EE12-0BBD-88DCB1B59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6F232-1C9F-224B-9982-2C77457053C1}" type="datetimeFigureOut">
              <a:rPr kumimoji="1" lang="ko-KR" altLang="en-US" smtClean="0"/>
              <a:t>2025. 2. 17.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22627-1C15-873E-7780-B2F1F886A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4971A-61A1-32FF-B1E9-2738D58C2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AF2E4-9DFB-C247-B905-49B8A826433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95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FD0AE7C-F9E4-C902-B0BB-8C5A267217AA}"/>
              </a:ext>
            </a:extLst>
          </p:cNvPr>
          <p:cNvCxnSpPr/>
          <p:nvPr/>
        </p:nvCxnSpPr>
        <p:spPr>
          <a:xfrm>
            <a:off x="0" y="4094719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CFDC46-4F41-93F7-849A-E557AF1C6996}"/>
              </a:ext>
            </a:extLst>
          </p:cNvPr>
          <p:cNvSpPr txBox="1"/>
          <p:nvPr/>
        </p:nvSpPr>
        <p:spPr>
          <a:xfrm>
            <a:off x="2388096" y="2480488"/>
            <a:ext cx="74158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3200" dirty="0"/>
              <a:t>Best Practices for </a:t>
            </a:r>
            <a:r>
              <a:rPr kumimoji="1" lang="en-US" altLang="ko-KR" sz="3200" dirty="0" err="1"/>
              <a:t>pseudobulk</a:t>
            </a:r>
            <a:r>
              <a:rPr kumimoji="1" lang="en-US" altLang="ko-KR" sz="3200" dirty="0"/>
              <a:t> analysis </a:t>
            </a:r>
          </a:p>
          <a:p>
            <a:pPr algn="ctr"/>
            <a:r>
              <a:rPr kumimoji="1" lang="en-US" altLang="ko-KR" sz="3200" dirty="0"/>
              <a:t>in </a:t>
            </a:r>
            <a:r>
              <a:rPr kumimoji="1" lang="en-US" altLang="ko-KR" sz="3200" dirty="0" err="1"/>
              <a:t>scRNA</a:t>
            </a:r>
            <a:r>
              <a:rPr kumimoji="1" lang="en-US" altLang="ko-KR" sz="3200" dirty="0"/>
              <a:t>-seq</a:t>
            </a:r>
            <a:endParaRPr kumimoji="1" lang="ko-KR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7F103-4600-02C3-AE8C-7A723B0C6C6A}"/>
              </a:ext>
            </a:extLst>
          </p:cNvPr>
          <p:cNvSpPr txBox="1"/>
          <p:nvPr/>
        </p:nvSpPr>
        <p:spPr>
          <a:xfrm>
            <a:off x="4475749" y="4813738"/>
            <a:ext cx="324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Youngchul</a:t>
            </a:r>
            <a:r>
              <a:rPr kumimoji="1" lang="en-US" altLang="ko-KR" dirty="0"/>
              <a:t> Oh, </a:t>
            </a:r>
            <a:r>
              <a:rPr kumimoji="1" lang="en-US" altLang="ko-KR" dirty="0" err="1"/>
              <a:t>Yeongjun</a:t>
            </a:r>
            <a:r>
              <a:rPr kumimoji="1" lang="en-US" altLang="ko-KR" dirty="0"/>
              <a:t> Kim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522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3F94552-6C4C-4E34-B103-0D06BA3D7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001" y="2215568"/>
            <a:ext cx="3152581" cy="10058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28" name="Picture 4" descr="Fig. 2">
            <a:extLst>
              <a:ext uri="{FF2B5EF4-FFF2-40B4-BE49-F238E27FC236}">
                <a16:creationId xmlns:a16="http://schemas.microsoft.com/office/drawing/2014/main" id="{465A8DD8-DB96-4D45-9F77-68BE0DA44D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52" b="53120"/>
          <a:stretch/>
        </p:blipFill>
        <p:spPr bwMode="auto">
          <a:xfrm>
            <a:off x="8253001" y="3574669"/>
            <a:ext cx="3152580" cy="2180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30" name="Picture 6" descr="figure 1">
            <a:extLst>
              <a:ext uri="{FF2B5EF4-FFF2-40B4-BE49-F238E27FC236}">
                <a16:creationId xmlns:a16="http://schemas.microsoft.com/office/drawing/2014/main" id="{FCEF799D-6184-46AB-A1A8-3432D6CEF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009"/>
          <a:stretch/>
        </p:blipFill>
        <p:spPr bwMode="auto">
          <a:xfrm>
            <a:off x="3640421" y="3575253"/>
            <a:ext cx="4374124" cy="21807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581F96-9FF9-4872-86BC-D748338F5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420" y="2216677"/>
            <a:ext cx="4374126" cy="1083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04670-87B2-49A3-A12B-17858AC11CDE}"/>
              </a:ext>
            </a:extLst>
          </p:cNvPr>
          <p:cNvSpPr txBox="1"/>
          <p:nvPr/>
        </p:nvSpPr>
        <p:spPr>
          <a:xfrm>
            <a:off x="83153" y="153888"/>
            <a:ext cx="1130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Various pseudo-bulk RNA sequencing methods</a:t>
            </a:r>
            <a:endParaRPr lang="ko-KR" alt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46DA5-8F71-44D9-A604-C532CD747B2F}"/>
              </a:ext>
            </a:extLst>
          </p:cNvPr>
          <p:cNvSpPr txBox="1"/>
          <p:nvPr/>
        </p:nvSpPr>
        <p:spPr>
          <a:xfrm>
            <a:off x="5008920" y="1554849"/>
            <a:ext cx="163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b="1" dirty="0" err="1"/>
              <a:t>MetaCell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8C1BAF-16A4-4DA2-AA0C-D8F0D6B7F2F6}"/>
              </a:ext>
            </a:extLst>
          </p:cNvPr>
          <p:cNvSpPr txBox="1"/>
          <p:nvPr/>
        </p:nvSpPr>
        <p:spPr>
          <a:xfrm>
            <a:off x="8950040" y="1554265"/>
            <a:ext cx="199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en-US" altLang="ko-KR" b="1" dirty="0" err="1"/>
              <a:t>Pseudobulks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6BE7E-7848-48CB-9BDC-A64FB82D739F}"/>
              </a:ext>
            </a:extLst>
          </p:cNvPr>
          <p:cNvSpPr txBox="1"/>
          <p:nvPr/>
        </p:nvSpPr>
        <p:spPr>
          <a:xfrm>
            <a:off x="1230621" y="1554849"/>
            <a:ext cx="153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Muscat</a:t>
            </a:r>
            <a:endParaRPr lang="ko-KR" altLang="en-US" b="1" dirty="0"/>
          </a:p>
        </p:txBody>
      </p:sp>
      <p:pic>
        <p:nvPicPr>
          <p:cNvPr id="1032" name="Picture 8" descr="Fig. 1">
            <a:extLst>
              <a:ext uri="{FF2B5EF4-FFF2-40B4-BE49-F238E27FC236}">
                <a16:creationId xmlns:a16="http://schemas.microsoft.com/office/drawing/2014/main" id="{EBDB8E21-B3CA-4A3D-AB70-4C1DE5ACA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33" b="53373"/>
          <a:stretch/>
        </p:blipFill>
        <p:spPr bwMode="auto">
          <a:xfrm>
            <a:off x="89167" y="3572535"/>
            <a:ext cx="3389324" cy="21828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D2FBF5-66D7-431A-8E9F-2F3D00060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3" y="2216152"/>
            <a:ext cx="3389324" cy="10271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1137B5-D45E-4B4A-9D5B-A73F21F4C38B}"/>
              </a:ext>
            </a:extLst>
          </p:cNvPr>
          <p:cNvSpPr txBox="1"/>
          <p:nvPr/>
        </p:nvSpPr>
        <p:spPr>
          <a:xfrm>
            <a:off x="10067827" y="6259398"/>
            <a:ext cx="259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…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5240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040B4C-4234-73E8-5B98-5CFB6CD5BE4C}"/>
              </a:ext>
            </a:extLst>
          </p:cNvPr>
          <p:cNvSpPr txBox="1"/>
          <p:nvPr/>
        </p:nvSpPr>
        <p:spPr>
          <a:xfrm>
            <a:off x="370114" y="228600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/>
              <a:t>Seurat v5</a:t>
            </a:r>
            <a:endParaRPr kumimoji="1"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712776-DC8D-68E8-140D-B701DF2D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8442"/>
            <a:ext cx="7772400" cy="27892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6FDD5E-CF51-1EBF-61E2-3199F737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020499"/>
            <a:ext cx="7772400" cy="206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2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674A1-9240-7802-92D5-621A8A9E5556}"/>
              </a:ext>
            </a:extLst>
          </p:cNvPr>
          <p:cNvSpPr txBox="1"/>
          <p:nvPr/>
        </p:nvSpPr>
        <p:spPr>
          <a:xfrm>
            <a:off x="1359733" y="802079"/>
            <a:ext cx="52017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How many cells that we need to aggregate?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Which strategy performed well?</a:t>
            </a:r>
          </a:p>
          <a:p>
            <a:pPr marL="342900" indent="-342900">
              <a:buAutoNum type="arabicPeriod"/>
            </a:pP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0D982E-6CDC-4B7A-5A01-234FD9070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93" y="2449590"/>
            <a:ext cx="3403346" cy="3311364"/>
          </a:xfrm>
          <a:prstGeom prst="rect">
            <a:avLst/>
          </a:prstGeom>
        </p:spPr>
      </p:pic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DFEEF336-7259-0915-FEBE-9C875B8FE1A1}"/>
              </a:ext>
            </a:extLst>
          </p:cNvPr>
          <p:cNvSpPr/>
          <p:nvPr/>
        </p:nvSpPr>
        <p:spPr>
          <a:xfrm>
            <a:off x="5486400" y="3583858"/>
            <a:ext cx="1858297" cy="6784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F7F3BEF-894D-6129-84E7-69C6734D0D86}"/>
              </a:ext>
            </a:extLst>
          </p:cNvPr>
          <p:cNvSpPr/>
          <p:nvPr/>
        </p:nvSpPr>
        <p:spPr>
          <a:xfrm>
            <a:off x="9114503" y="2474277"/>
            <a:ext cx="457200" cy="390051"/>
          </a:xfrm>
          <a:prstGeom prst="ellipse">
            <a:avLst/>
          </a:prstGeom>
          <a:solidFill>
            <a:srgbClr val="7550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8CB0657-38CB-4019-3FCC-7FDD65F24F1B}"/>
              </a:ext>
            </a:extLst>
          </p:cNvPr>
          <p:cNvSpPr/>
          <p:nvPr/>
        </p:nvSpPr>
        <p:spPr>
          <a:xfrm>
            <a:off x="7880554" y="2834831"/>
            <a:ext cx="457200" cy="390051"/>
          </a:xfrm>
          <a:prstGeom prst="ellipse">
            <a:avLst/>
          </a:prstGeom>
          <a:solidFill>
            <a:srgbClr val="1987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67FBA0B-A0DB-B310-4EC6-DEF5C7F812B5}"/>
              </a:ext>
            </a:extLst>
          </p:cNvPr>
          <p:cNvSpPr/>
          <p:nvPr/>
        </p:nvSpPr>
        <p:spPr>
          <a:xfrm>
            <a:off x="8944896" y="3668115"/>
            <a:ext cx="457200" cy="390051"/>
          </a:xfrm>
          <a:prstGeom prst="ellipse">
            <a:avLst/>
          </a:prstGeom>
          <a:solidFill>
            <a:srgbClr val="4E71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849AA47-E9DA-2CFD-B384-B177A521034E}"/>
              </a:ext>
            </a:extLst>
          </p:cNvPr>
          <p:cNvSpPr/>
          <p:nvPr/>
        </p:nvSpPr>
        <p:spPr>
          <a:xfrm>
            <a:off x="10628669" y="2905275"/>
            <a:ext cx="457200" cy="390051"/>
          </a:xfrm>
          <a:prstGeom prst="ellipse">
            <a:avLst/>
          </a:prstGeom>
          <a:solidFill>
            <a:srgbClr val="BB36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0AB8F2F-3D52-FE0B-F975-2153F3918787}"/>
              </a:ext>
            </a:extLst>
          </p:cNvPr>
          <p:cNvSpPr/>
          <p:nvPr/>
        </p:nvSpPr>
        <p:spPr>
          <a:xfrm>
            <a:off x="10133524" y="3428844"/>
            <a:ext cx="457200" cy="390051"/>
          </a:xfrm>
          <a:prstGeom prst="ellipse">
            <a:avLst/>
          </a:prstGeom>
          <a:solidFill>
            <a:srgbClr val="C151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7A9CAA8-EC29-ADB1-C99C-28C85C1DD171}"/>
              </a:ext>
            </a:extLst>
          </p:cNvPr>
          <p:cNvSpPr/>
          <p:nvPr/>
        </p:nvSpPr>
        <p:spPr>
          <a:xfrm>
            <a:off x="7668088" y="3757386"/>
            <a:ext cx="457200" cy="390051"/>
          </a:xfrm>
          <a:prstGeom prst="ellipse">
            <a:avLst/>
          </a:prstGeom>
          <a:solidFill>
            <a:srgbClr val="89C1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9F2F58A-0EAC-DEC5-8631-758C72749918}"/>
              </a:ext>
            </a:extLst>
          </p:cNvPr>
          <p:cNvSpPr/>
          <p:nvPr/>
        </p:nvSpPr>
        <p:spPr>
          <a:xfrm>
            <a:off x="8487696" y="4821004"/>
            <a:ext cx="457200" cy="390051"/>
          </a:xfrm>
          <a:prstGeom prst="ellipse">
            <a:avLst/>
          </a:prstGeom>
          <a:solidFill>
            <a:srgbClr val="E4C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272125D-EF13-8BF5-0030-F6C3189F515C}"/>
              </a:ext>
            </a:extLst>
          </p:cNvPr>
          <p:cNvSpPr/>
          <p:nvPr/>
        </p:nvSpPr>
        <p:spPr>
          <a:xfrm>
            <a:off x="9799229" y="4457154"/>
            <a:ext cx="457200" cy="390051"/>
          </a:xfrm>
          <a:prstGeom prst="ellipse">
            <a:avLst/>
          </a:prstGeom>
          <a:solidFill>
            <a:srgbClr val="864F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71073FDF-3A7D-7320-E16E-B350A4A4D22A}"/>
              </a:ext>
            </a:extLst>
          </p:cNvPr>
          <p:cNvCxnSpPr/>
          <p:nvPr/>
        </p:nvCxnSpPr>
        <p:spPr>
          <a:xfrm>
            <a:off x="7586971" y="2375939"/>
            <a:ext cx="0" cy="3155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652E0137-3052-E9E4-0609-ECD3008E2B6B}"/>
              </a:ext>
            </a:extLst>
          </p:cNvPr>
          <p:cNvCxnSpPr/>
          <p:nvPr/>
        </p:nvCxnSpPr>
        <p:spPr>
          <a:xfrm>
            <a:off x="7586971" y="5531368"/>
            <a:ext cx="37455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</Words>
  <Application>Microsoft Macintosh PowerPoint</Application>
  <PresentationFormat>와이드스크린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오영철(생명과학과)</dc:creator>
  <cp:lastModifiedBy>오영철(생명과학과)</cp:lastModifiedBy>
  <cp:revision>1</cp:revision>
  <dcterms:created xsi:type="dcterms:W3CDTF">2025-02-17T10:38:59Z</dcterms:created>
  <dcterms:modified xsi:type="dcterms:W3CDTF">2025-02-17T11:08:52Z</dcterms:modified>
</cp:coreProperties>
</file>